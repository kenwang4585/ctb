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"/>
    <p:sldId id="274" r:id="rId3"/>
    <p:sldId id="279" r:id="rId4"/>
    <p:sldId id="275" r:id="rId5"/>
    <p:sldId id="276" r:id="rId6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4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200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8BFD7-17B5-6C45-BEE5-887B0D0EE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0FA49A-092F-F340-929F-8089E60A8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E312E-0EA7-0A4E-B69C-474D80041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D289-ABC5-2A47-8ECC-EBD37EEA506E}" type="datetimeFigureOut">
              <a:rPr lang="en-CN" smtClean="0"/>
              <a:t>2020/9/25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EB15C-A50E-FD4C-B806-58433C181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8FE43-C87F-C745-BCAE-9652DA096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6DB7F-A977-1A47-AAC0-67A698AF6BD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50326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4C08B-A3E6-9948-A6BC-5D0895319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DD516-142A-F94B-9638-3347F6AB4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259F7-C449-EC4C-A7A5-E8A3A795F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D289-ABC5-2A47-8ECC-EBD37EEA506E}" type="datetimeFigureOut">
              <a:rPr lang="en-CN" smtClean="0"/>
              <a:t>2020/9/25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27278-75E4-414D-B9C8-45609961F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AEAD0-89A5-AD43-BDAF-33A7D7405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6DB7F-A977-1A47-AAC0-67A698AF6BD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5802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067FF-FD21-F84C-9797-A30AA724B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2735F-560F-D644-BBEA-01AF7725A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D3E73-A786-EA48-80FD-899B7A00B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D289-ABC5-2A47-8ECC-EBD37EEA506E}" type="datetimeFigureOut">
              <a:rPr lang="en-CN" smtClean="0"/>
              <a:t>2020/9/25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16081-B72F-424C-8E9C-419967E48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25D64-0508-504F-8CC5-2B7679266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6DB7F-A977-1A47-AAC0-67A698AF6BD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70701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AC107-CCCB-B041-9901-CA4FA1E94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BF72B-8778-F24A-BF5F-71953B83D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9151C-8274-7F4D-AD58-EBA57538B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6C16B-CA95-D44C-828A-90B8B9F5A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D289-ABC5-2A47-8ECC-EBD37EEA506E}" type="datetimeFigureOut">
              <a:rPr lang="en-CN" smtClean="0"/>
              <a:t>2020/9/25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E0A8D-CBD2-6248-AEFD-B9E4A343F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2B96BE-5473-1942-BFC9-B4A1C0122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6DB7F-A977-1A47-AAC0-67A698AF6BD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67025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C75FA-DC62-8846-95C4-D33508380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AA9DA-F29E-2445-8C2D-CFEE3E1D6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CC3D2B-E315-444E-AA13-1BDE1B4EE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EF9E09-65E8-3E40-9639-BB2331DA05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2CCEB9-9DBC-8843-96B2-5377B8837B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A2D7B4-148F-D545-B803-C13993E5D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D289-ABC5-2A47-8ECC-EBD37EEA506E}" type="datetimeFigureOut">
              <a:rPr lang="en-CN" smtClean="0"/>
              <a:t>2020/9/25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CE8488-817F-1344-ACC0-22377E7E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2C4F3E-3553-1546-9798-DDA68CB9C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6DB7F-A977-1A47-AAC0-67A698AF6BD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03858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C67A2-7EDE-8D44-88C1-4683BD0EF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F1120D-4098-974B-988F-78C4FC492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D289-ABC5-2A47-8ECC-EBD37EEA506E}" type="datetimeFigureOut">
              <a:rPr lang="en-CN" smtClean="0"/>
              <a:t>2020/9/25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E0F453-B38B-F342-BF54-6BD9AF468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FB3EB8-9DA8-BE43-AC16-A5F6BBE0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6DB7F-A977-1A47-AAC0-67A698AF6BD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5439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58ABC-9FCE-8C4D-8FE4-0E76CF7BE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D289-ABC5-2A47-8ECC-EBD37EEA506E}" type="datetimeFigureOut">
              <a:rPr lang="en-CN" smtClean="0"/>
              <a:t>2020/9/25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33CBE2-20EA-5F4A-BC4A-D353B1B50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B1338-DD35-C245-903D-93E1D8C8B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6DB7F-A977-1A47-AAC0-67A698AF6BD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18560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BB405-7313-F341-A2E7-AB77A0C57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BC738-4E9F-8347-ACC2-495625DF2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C00C64-B7F1-AF42-A9E3-F2864AEA6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3F521-6C04-D043-A7A5-A7F934DBE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D289-ABC5-2A47-8ECC-EBD37EEA506E}" type="datetimeFigureOut">
              <a:rPr lang="en-CN" smtClean="0"/>
              <a:t>2020/9/25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4D1EF3-AA77-A246-BF55-767C0411F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1CA98-DE5C-CC4C-B5E3-44801527B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6DB7F-A977-1A47-AAC0-67A698AF6BD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76063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8B526-2553-CC40-8C10-1FDC448BF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A3AEE8-057D-244F-B2E1-167FC6F514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539D07-32CB-B041-8551-135483B2C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CB1D2-C5A8-A14A-87B2-CFA0E7C1E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D289-ABC5-2A47-8ECC-EBD37EEA506E}" type="datetimeFigureOut">
              <a:rPr lang="en-CN" smtClean="0"/>
              <a:t>2020/9/25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449EC-028D-6E48-8C04-2042F20DB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5FF613-EF18-474C-BFBE-BEE2238C9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6DB7F-A977-1A47-AAC0-67A698AF6BD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1447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BBE3D-661D-1149-ABD9-91D35388B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FBBE35-4803-B744-B22E-3B7390015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24572-0D76-B24A-87E1-37D360144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D289-ABC5-2A47-8ECC-EBD37EEA506E}" type="datetimeFigureOut">
              <a:rPr lang="en-CN" smtClean="0"/>
              <a:t>2020/9/25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7A100-E3E2-3E49-82FC-899054851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F76C2-6A73-0342-9684-EFE6F47EA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6DB7F-A977-1A47-AAC0-67A698AF6BD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05520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5F2CBB-C51F-DD47-9952-1A768CC24E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A7966C-AA80-664C-8DB2-208866B3C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ACAE4-E1E2-FF4F-8B8C-38C2759FC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DD289-ABC5-2A47-8ECC-EBD37EEA506E}" type="datetimeFigureOut">
              <a:rPr lang="en-CN" smtClean="0"/>
              <a:t>2020/9/25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AA2E9-3227-0A4B-A820-95D2A5E78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D5F58-69E6-2E4F-9C88-DB554AA4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6DB7F-A977-1A47-AAC0-67A698AF6BD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0479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0C67CD-006C-5E44-9253-B16583B31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AF0C2-813A-EF43-AF3C-5A53072F2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31AF8-2E0E-A14E-AB16-15E696F9A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DD289-ABC5-2A47-8ECC-EBD37EEA506E}" type="datetimeFigureOut">
              <a:rPr lang="en-CN" smtClean="0"/>
              <a:t>2020/9/25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B6AEB-EB7E-6A48-9A98-8DB0A1860E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D4F15-C40D-5E41-BD60-2CD12C069D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6DB7F-A977-1A47-AAC0-67A698AF6BD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95392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8F240-405B-9D49-8620-8347DC552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Why Generating Ranking?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D7D16C-D7D6-0B40-AFE5-2FAA7D781E1D}"/>
              </a:ext>
            </a:extLst>
          </p:cNvPr>
          <p:cNvSpPr txBox="1"/>
          <p:nvPr/>
        </p:nvSpPr>
        <p:spPr>
          <a:xfrm>
            <a:off x="990600" y="1415142"/>
            <a:ext cx="10515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b="1" dirty="0"/>
              <a:t>Problems we face: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400" dirty="0"/>
              <a:t>Misalignment on expectations on which orders to build first – caused by process gaps or tool designs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400" dirty="0"/>
              <a:t>CTB projection accuracy gaps – while predictability expectation increased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400" dirty="0"/>
              <a:t>Extra communication efforts betweens teams to align build priority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400" dirty="0"/>
              <a:t>Big effort for FOC to manually plan urgent/priority orders on top of BiSi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400" dirty="0"/>
              <a:t>Continuous guideline updates – hard for CM to follow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N" sz="2400" dirty="0"/>
          </a:p>
          <a:p>
            <a:r>
              <a:rPr lang="en-CN" sz="2400" b="1" dirty="0"/>
              <a:t>How this may help: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400" dirty="0"/>
              <a:t>One time effort to bake the ranking into CTB/production process – guideline changes won’t impact anymore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400" dirty="0"/>
              <a:t>Great improvement on predictability – we are aligned in process and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400" dirty="0"/>
              <a:t>Resource saved – minimized day to day efforts on aligning or questioning on build priorities; and much less extra plan required</a:t>
            </a:r>
          </a:p>
        </p:txBody>
      </p:sp>
    </p:spTree>
    <p:extLst>
      <p:ext uri="{BB962C8B-B14F-4D97-AF65-F5344CB8AC3E}">
        <p14:creationId xmlns:p14="http://schemas.microsoft.com/office/powerpoint/2010/main" val="2153894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7457-2373-6845-A8D2-43FBA95B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sz="3600" dirty="0"/>
              <a:t>Ranking Logic for 3A4 SS</a:t>
            </a:r>
            <a:r>
              <a:rPr lang="en-CN" sz="2800" dirty="0"/>
              <a:t> (see next page for new proposal also)</a:t>
            </a:r>
            <a:endParaRPr lang="en-CN" sz="3600" dirty="0"/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D1E82817-15B6-BE4B-9D6C-0677636A4D7F}"/>
              </a:ext>
            </a:extLst>
          </p:cNvPr>
          <p:cNvSpPr/>
          <p:nvPr/>
        </p:nvSpPr>
        <p:spPr>
          <a:xfrm>
            <a:off x="2646209" y="1430868"/>
            <a:ext cx="1576554" cy="628355"/>
          </a:xfrm>
          <a:prstGeom prst="flowChartProcess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tx1"/>
                </a:solidFill>
              </a:rPr>
              <a:t>Top priority orders </a:t>
            </a:r>
          </a:p>
          <a:p>
            <a:pPr algn="ctr"/>
            <a:r>
              <a:rPr lang="en-CN" sz="1200" b="1" dirty="0">
                <a:solidFill>
                  <a:schemeClr val="tx1"/>
                </a:solidFill>
              </a:rPr>
              <a:t>(PR1/2/3, Top100, L4, BUP)</a:t>
            </a:r>
          </a:p>
        </p:txBody>
      </p:sp>
      <p:sp>
        <p:nvSpPr>
          <p:cNvPr id="60" name="Process 59">
            <a:extLst>
              <a:ext uri="{FF2B5EF4-FFF2-40B4-BE49-F238E27FC236}">
                <a16:creationId xmlns:a16="http://schemas.microsoft.com/office/drawing/2014/main" id="{BD08CFAC-5248-EA41-9184-F644307D0210}"/>
              </a:ext>
            </a:extLst>
          </p:cNvPr>
          <p:cNvSpPr/>
          <p:nvPr/>
        </p:nvSpPr>
        <p:spPr>
          <a:xfrm>
            <a:off x="6881507" y="1435862"/>
            <a:ext cx="1576553" cy="628355"/>
          </a:xfrm>
          <a:prstGeom prst="flowChartProcess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*Min of OSSD and LT_TARGET_FCD</a:t>
            </a:r>
            <a:endParaRPr lang="en-CN" sz="1200" dirty="0">
              <a:solidFill>
                <a:schemeClr val="tx1"/>
              </a:solidFill>
            </a:endParaRPr>
          </a:p>
        </p:txBody>
      </p:sp>
      <p:sp>
        <p:nvSpPr>
          <p:cNvPr id="63" name="Process 62">
            <a:extLst>
              <a:ext uri="{FF2B5EF4-FFF2-40B4-BE49-F238E27FC236}">
                <a16:creationId xmlns:a16="http://schemas.microsoft.com/office/drawing/2014/main" id="{1DA9ABDB-9402-8340-BCEC-A7172177B55D}"/>
              </a:ext>
            </a:extLst>
          </p:cNvPr>
          <p:cNvSpPr/>
          <p:nvPr/>
        </p:nvSpPr>
        <p:spPr>
          <a:xfrm>
            <a:off x="9115705" y="1430868"/>
            <a:ext cx="1576552" cy="624297"/>
          </a:xfrm>
          <a:prstGeom prst="flowChartProcess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SS Revenue</a:t>
            </a:r>
            <a:endParaRPr lang="en-CN" sz="1200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F8FA8FE-2DD9-8647-9D7C-58B70A5FA682}"/>
              </a:ext>
            </a:extLst>
          </p:cNvPr>
          <p:cNvCxnSpPr>
            <a:cxnSpLocks/>
            <a:stCxn id="24" idx="3"/>
            <a:endCxn id="17" idx="1"/>
          </p:cNvCxnSpPr>
          <p:nvPr/>
        </p:nvCxnSpPr>
        <p:spPr>
          <a:xfrm flipV="1">
            <a:off x="4222763" y="1743016"/>
            <a:ext cx="465384" cy="20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F58EBAB-169A-224F-96E6-2140920832FE}"/>
              </a:ext>
            </a:extLst>
          </p:cNvPr>
          <p:cNvSpPr txBox="1"/>
          <p:nvPr/>
        </p:nvSpPr>
        <p:spPr>
          <a:xfrm>
            <a:off x="1103404" y="3216957"/>
            <a:ext cx="10608113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N" b="1" dirty="0"/>
              <a:t>Additional considerations</a:t>
            </a:r>
            <a:r>
              <a:rPr lang="en-CN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</a:t>
            </a:r>
            <a:r>
              <a:rPr lang="en-CN" dirty="0"/>
              <a:t>eprioritize CRSD outside quarter and MFG hold orders – put in the 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Non-rev orders – change PO revenue to 0$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*Non-rev orders – min date only consider Current FCD (</a:t>
            </a:r>
            <a:r>
              <a:rPr lang="en-CN" dirty="0">
                <a:solidFill>
                  <a:schemeClr val="accent1"/>
                </a:solidFill>
              </a:rPr>
              <a:t>Only for Qend as requested</a:t>
            </a:r>
            <a:r>
              <a:rPr lang="en-CN" dirty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DPAS: some under PR7/8 instead of PR1/2/3, recategozied as PR1/2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*Deprioritize problem orders  by manipulating min_date based on exception input</a:t>
            </a:r>
          </a:p>
          <a:p>
            <a:endParaRPr lang="en-CN" dirty="0"/>
          </a:p>
          <a:p>
            <a:r>
              <a:rPr lang="en-CN" b="1" dirty="0"/>
              <a:t>Note:</a:t>
            </a:r>
            <a:r>
              <a:rPr lang="en-CN" dirty="0"/>
              <a:t> Above logic is generated according to central guideline; we may switch to utilize 3A4 GLO_RANK </a:t>
            </a:r>
            <a:r>
              <a:rPr lang="en-US" dirty="0"/>
              <a:t>once logic corrected to fully align with central guideline (e.g. correctly consider priority orders).</a:t>
            </a:r>
            <a:endParaRPr lang="en-CN" dirty="0"/>
          </a:p>
          <a:p>
            <a:endParaRPr lang="en-C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8575C93-0D98-624B-ABCF-553B27E5F2F3}"/>
              </a:ext>
            </a:extLst>
          </p:cNvPr>
          <p:cNvCxnSpPr>
            <a:cxnSpLocks/>
            <a:stCxn id="60" idx="3"/>
            <a:endCxn id="63" idx="1"/>
          </p:cNvCxnSpPr>
          <p:nvPr/>
        </p:nvCxnSpPr>
        <p:spPr>
          <a:xfrm flipV="1">
            <a:off x="8458060" y="1743017"/>
            <a:ext cx="657645" cy="7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C00F5F7-2F87-A946-8D79-71CB937FFB27}"/>
              </a:ext>
            </a:extLst>
          </p:cNvPr>
          <p:cNvGraphicFramePr>
            <a:graphicFrameLocks noGrp="1"/>
          </p:cNvGraphicFramePr>
          <p:nvPr/>
        </p:nvGraphicFramePr>
        <p:xfrm>
          <a:off x="1340603" y="1595216"/>
          <a:ext cx="982714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2714">
                  <a:extLst>
                    <a:ext uri="{9D8B030D-6E8A-4147-A177-3AD203B41FA5}">
                      <a16:colId xmlns:a16="http://schemas.microsoft.com/office/drawing/2014/main" val="178548744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Option I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949799828"/>
                  </a:ext>
                </a:extLst>
              </a:tr>
            </a:tbl>
          </a:graphicData>
        </a:graphic>
      </p:graphicFrame>
      <p:sp>
        <p:nvSpPr>
          <p:cNvPr id="31" name="Process 30">
            <a:extLst>
              <a:ext uri="{FF2B5EF4-FFF2-40B4-BE49-F238E27FC236}">
                <a16:creationId xmlns:a16="http://schemas.microsoft.com/office/drawing/2014/main" id="{66BBCEBF-B9A9-C543-A481-E1AC35CE0B8E}"/>
              </a:ext>
            </a:extLst>
          </p:cNvPr>
          <p:cNvSpPr/>
          <p:nvPr/>
        </p:nvSpPr>
        <p:spPr>
          <a:xfrm>
            <a:off x="2646209" y="2237841"/>
            <a:ext cx="1576554" cy="628355"/>
          </a:xfrm>
          <a:prstGeom prst="flowChartProcess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tx1"/>
                </a:solidFill>
              </a:rPr>
              <a:t>Top priority orders </a:t>
            </a:r>
          </a:p>
          <a:p>
            <a:pPr algn="ctr"/>
            <a:r>
              <a:rPr lang="en-CN" sz="1200" b="1" dirty="0">
                <a:solidFill>
                  <a:schemeClr val="tx1"/>
                </a:solidFill>
              </a:rPr>
              <a:t>(PR1/2/3, Top100, L4, BUP)</a:t>
            </a:r>
          </a:p>
        </p:txBody>
      </p:sp>
      <p:sp>
        <p:nvSpPr>
          <p:cNvPr id="33" name="Process 32">
            <a:extLst>
              <a:ext uri="{FF2B5EF4-FFF2-40B4-BE49-F238E27FC236}">
                <a16:creationId xmlns:a16="http://schemas.microsoft.com/office/drawing/2014/main" id="{0FD7FAFE-B3B4-D74D-BD0E-4AA365B86577}"/>
              </a:ext>
            </a:extLst>
          </p:cNvPr>
          <p:cNvSpPr/>
          <p:nvPr/>
        </p:nvSpPr>
        <p:spPr>
          <a:xfrm>
            <a:off x="6881507" y="2239134"/>
            <a:ext cx="1576552" cy="624297"/>
          </a:xfrm>
          <a:prstGeom prst="flowChartProcess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SS Revenue</a:t>
            </a:r>
            <a:endParaRPr lang="en-CN" sz="1200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C1EB5AA-0766-B64C-A126-DF84FA760471}"/>
              </a:ext>
            </a:extLst>
          </p:cNvPr>
          <p:cNvCxnSpPr>
            <a:cxnSpLocks/>
            <a:stCxn id="31" idx="3"/>
            <a:endCxn id="20" idx="1"/>
          </p:cNvCxnSpPr>
          <p:nvPr/>
        </p:nvCxnSpPr>
        <p:spPr>
          <a:xfrm flipV="1">
            <a:off x="4222763" y="2550643"/>
            <a:ext cx="479354" cy="137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BE2CAB9-CA2C-A949-97AA-A31BA007B402}"/>
              </a:ext>
            </a:extLst>
          </p:cNvPr>
          <p:cNvGraphicFramePr>
            <a:graphicFrameLocks noGrp="1"/>
          </p:cNvGraphicFramePr>
          <p:nvPr/>
        </p:nvGraphicFramePr>
        <p:xfrm>
          <a:off x="1340603" y="2402189"/>
          <a:ext cx="982714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2714">
                  <a:extLst>
                    <a:ext uri="{9D8B030D-6E8A-4147-A177-3AD203B41FA5}">
                      <a16:colId xmlns:a16="http://schemas.microsoft.com/office/drawing/2014/main" val="178548744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Option II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949799828"/>
                  </a:ext>
                </a:extLst>
              </a:tr>
            </a:tbl>
          </a:graphicData>
        </a:graphic>
      </p:graphicFrame>
      <p:sp>
        <p:nvSpPr>
          <p:cNvPr id="40" name="Process 39">
            <a:extLst>
              <a:ext uri="{FF2B5EF4-FFF2-40B4-BE49-F238E27FC236}">
                <a16:creationId xmlns:a16="http://schemas.microsoft.com/office/drawing/2014/main" id="{242943F9-19B0-F14E-815B-43F926F62B11}"/>
              </a:ext>
            </a:extLst>
          </p:cNvPr>
          <p:cNvSpPr/>
          <p:nvPr/>
        </p:nvSpPr>
        <p:spPr>
          <a:xfrm>
            <a:off x="9115704" y="2239134"/>
            <a:ext cx="1576553" cy="628355"/>
          </a:xfrm>
          <a:prstGeom prst="flowChartProcess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*Min of OSSD and LT_TARGET_FCD</a:t>
            </a:r>
            <a:endParaRPr lang="en-CN" sz="1200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10CAD70-1CCD-C947-8DAA-571F619E4FC9}"/>
              </a:ext>
            </a:extLst>
          </p:cNvPr>
          <p:cNvCxnSpPr>
            <a:cxnSpLocks/>
            <a:stCxn id="33" idx="3"/>
            <a:endCxn id="40" idx="1"/>
          </p:cNvCxnSpPr>
          <p:nvPr/>
        </p:nvCxnSpPr>
        <p:spPr>
          <a:xfrm>
            <a:off x="8458059" y="2551283"/>
            <a:ext cx="657645" cy="2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A197B67-9139-DC4F-8826-C8BC90F608DE}"/>
              </a:ext>
            </a:extLst>
          </p:cNvPr>
          <p:cNvSpPr txBox="1"/>
          <p:nvPr/>
        </p:nvSpPr>
        <p:spPr>
          <a:xfrm>
            <a:off x="1275778" y="2609986"/>
            <a:ext cx="10615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(exceptional)</a:t>
            </a:r>
          </a:p>
        </p:txBody>
      </p:sp>
      <p:sp>
        <p:nvSpPr>
          <p:cNvPr id="17" name="Process 16">
            <a:extLst>
              <a:ext uri="{FF2B5EF4-FFF2-40B4-BE49-F238E27FC236}">
                <a16:creationId xmlns:a16="http://schemas.microsoft.com/office/drawing/2014/main" id="{3D68638D-E45B-A544-92E2-827033118DD5}"/>
              </a:ext>
            </a:extLst>
          </p:cNvPr>
          <p:cNvSpPr/>
          <p:nvPr/>
        </p:nvSpPr>
        <p:spPr>
          <a:xfrm>
            <a:off x="4688147" y="1430867"/>
            <a:ext cx="1576552" cy="624297"/>
          </a:xfrm>
          <a:prstGeom prst="flowChartProcess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Partial packed</a:t>
            </a:r>
            <a:endParaRPr lang="en-CN" sz="1200" dirty="0">
              <a:solidFill>
                <a:schemeClr val="tx1"/>
              </a:solidFill>
            </a:endParaRPr>
          </a:p>
        </p:txBody>
      </p:sp>
      <p:sp>
        <p:nvSpPr>
          <p:cNvPr id="20" name="Process 19">
            <a:extLst>
              <a:ext uri="{FF2B5EF4-FFF2-40B4-BE49-F238E27FC236}">
                <a16:creationId xmlns:a16="http://schemas.microsoft.com/office/drawing/2014/main" id="{EEB723BE-F0B3-CB41-98CB-A2952BEE9EA1}"/>
              </a:ext>
            </a:extLst>
          </p:cNvPr>
          <p:cNvSpPr/>
          <p:nvPr/>
        </p:nvSpPr>
        <p:spPr>
          <a:xfrm>
            <a:off x="4702117" y="2238494"/>
            <a:ext cx="1576552" cy="624297"/>
          </a:xfrm>
          <a:prstGeom prst="flowChartProcess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Partial packed</a:t>
            </a:r>
            <a:endParaRPr lang="en-CN" sz="1200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51E2C3-CACD-1842-B283-FB759490E464}"/>
              </a:ext>
            </a:extLst>
          </p:cNvPr>
          <p:cNvCxnSpPr>
            <a:cxnSpLocks/>
            <a:stCxn id="17" idx="3"/>
            <a:endCxn id="60" idx="1"/>
          </p:cNvCxnSpPr>
          <p:nvPr/>
        </p:nvCxnSpPr>
        <p:spPr>
          <a:xfrm>
            <a:off x="6264699" y="1743016"/>
            <a:ext cx="616808" cy="7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B4D3DEC-FE73-614F-9AE0-D724A5A6E121}"/>
              </a:ext>
            </a:extLst>
          </p:cNvPr>
          <p:cNvCxnSpPr>
            <a:cxnSpLocks/>
            <a:stCxn id="20" idx="3"/>
            <a:endCxn id="33" idx="1"/>
          </p:cNvCxnSpPr>
          <p:nvPr/>
        </p:nvCxnSpPr>
        <p:spPr>
          <a:xfrm>
            <a:off x="6278669" y="2550643"/>
            <a:ext cx="602838" cy="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826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7457-2373-6845-A8D2-43FBA95B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sz="3600" dirty="0"/>
              <a:t>Ranking Logic for 3A4 SS – new proposal</a:t>
            </a:r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D1E82817-15B6-BE4B-9D6C-0677636A4D7F}"/>
              </a:ext>
            </a:extLst>
          </p:cNvPr>
          <p:cNvSpPr/>
          <p:nvPr/>
        </p:nvSpPr>
        <p:spPr>
          <a:xfrm>
            <a:off x="2254323" y="1681239"/>
            <a:ext cx="1400505" cy="628355"/>
          </a:xfrm>
          <a:prstGeom prst="flowChartProcess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tx1"/>
                </a:solidFill>
              </a:rPr>
              <a:t>Top priority orders </a:t>
            </a:r>
          </a:p>
          <a:p>
            <a:pPr algn="ctr"/>
            <a:r>
              <a:rPr lang="en-CN" sz="1200" b="1" dirty="0">
                <a:solidFill>
                  <a:schemeClr val="tx1"/>
                </a:solidFill>
              </a:rPr>
              <a:t>(PR1/2/3, Top100, L4, BUP)</a:t>
            </a:r>
          </a:p>
        </p:txBody>
      </p:sp>
      <p:sp>
        <p:nvSpPr>
          <p:cNvPr id="63" name="Process 62">
            <a:extLst>
              <a:ext uri="{FF2B5EF4-FFF2-40B4-BE49-F238E27FC236}">
                <a16:creationId xmlns:a16="http://schemas.microsoft.com/office/drawing/2014/main" id="{1DA9ABDB-9402-8340-BCEC-A7172177B55D}"/>
              </a:ext>
            </a:extLst>
          </p:cNvPr>
          <p:cNvSpPr/>
          <p:nvPr/>
        </p:nvSpPr>
        <p:spPr>
          <a:xfrm>
            <a:off x="7949625" y="1701438"/>
            <a:ext cx="1400505" cy="614849"/>
          </a:xfrm>
          <a:prstGeom prst="flowChartProcess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Rev/non-rev</a:t>
            </a:r>
            <a:endParaRPr lang="en-CN" sz="1200" dirty="0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C00F5F7-2F87-A946-8D79-71CB937FF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142394"/>
              </p:ext>
            </p:extLst>
          </p:nvPr>
        </p:nvGraphicFramePr>
        <p:xfrm>
          <a:off x="948717" y="1845587"/>
          <a:ext cx="982714" cy="253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2714">
                  <a:extLst>
                    <a:ext uri="{9D8B030D-6E8A-4147-A177-3AD203B41FA5}">
                      <a16:colId xmlns:a16="http://schemas.microsoft.com/office/drawing/2014/main" val="178548744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Option III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949799828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21A0EB9A-CA84-A04C-B7C5-97E3C1A50538}"/>
              </a:ext>
            </a:extLst>
          </p:cNvPr>
          <p:cNvSpPr txBox="1"/>
          <p:nvPr/>
        </p:nvSpPr>
        <p:spPr>
          <a:xfrm>
            <a:off x="1453100" y="3532515"/>
            <a:ext cx="816428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N" b="1" dirty="0"/>
          </a:p>
          <a:p>
            <a:r>
              <a:rPr lang="en-CN" b="1" dirty="0"/>
              <a:t>Additional considerations: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</a:t>
            </a:r>
            <a:r>
              <a:rPr lang="en-CN" dirty="0"/>
              <a:t>eprioritize CRSD outside quarter and MFG hold orders – put in the 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DPAS: some under PR7/8 instead of PR1/2/3, recategozied as PR1/2</a:t>
            </a:r>
            <a:endParaRPr lang="en-CN" b="1" dirty="0"/>
          </a:p>
          <a:p>
            <a:endParaRPr lang="en-CN" b="1" dirty="0"/>
          </a:p>
          <a:p>
            <a:endParaRPr lang="en-CN" b="1" dirty="0"/>
          </a:p>
          <a:p>
            <a:r>
              <a:rPr lang="en-CN" b="1" dirty="0"/>
              <a:t>Manual ranking manipulation (via smartsheet input): </a:t>
            </a:r>
            <a:r>
              <a:rPr lang="en-CN" dirty="0"/>
              <a:t>we can enable capability to manually set priority for any non-priority order, e.g. set SS#12345-1 as priority 4.5 to make it higher priority than currennt L4 orders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61695A-FC67-E942-8F3B-DD4160CD1832}"/>
              </a:ext>
            </a:extLst>
          </p:cNvPr>
          <p:cNvSpPr txBox="1"/>
          <p:nvPr/>
        </p:nvSpPr>
        <p:spPr>
          <a:xfrm>
            <a:off x="4105647" y="2335987"/>
            <a:ext cx="1554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200" dirty="0"/>
              <a:t>Prioritize Aged and recommited</a:t>
            </a:r>
          </a:p>
        </p:txBody>
      </p:sp>
      <p:sp>
        <p:nvSpPr>
          <p:cNvPr id="48" name="Process 47">
            <a:extLst>
              <a:ext uri="{FF2B5EF4-FFF2-40B4-BE49-F238E27FC236}">
                <a16:creationId xmlns:a16="http://schemas.microsoft.com/office/drawing/2014/main" id="{9FCBE6AF-BDCF-D748-B194-82791AC9B20D}"/>
              </a:ext>
            </a:extLst>
          </p:cNvPr>
          <p:cNvSpPr/>
          <p:nvPr/>
        </p:nvSpPr>
        <p:spPr>
          <a:xfrm>
            <a:off x="4152757" y="1701438"/>
            <a:ext cx="1400505" cy="593347"/>
          </a:xfrm>
          <a:prstGeom prst="flowChartProcess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tx1"/>
                </a:solidFill>
              </a:rPr>
              <a:t>OSSD</a:t>
            </a:r>
          </a:p>
        </p:txBody>
      </p:sp>
      <p:sp>
        <p:nvSpPr>
          <p:cNvPr id="49" name="Process 48">
            <a:extLst>
              <a:ext uri="{FF2B5EF4-FFF2-40B4-BE49-F238E27FC236}">
                <a16:creationId xmlns:a16="http://schemas.microsoft.com/office/drawing/2014/main" id="{8F78C86E-B534-D941-8E37-25ADDC2D108D}"/>
              </a:ext>
            </a:extLst>
          </p:cNvPr>
          <p:cNvSpPr/>
          <p:nvPr/>
        </p:nvSpPr>
        <p:spPr>
          <a:xfrm>
            <a:off x="6051191" y="1701438"/>
            <a:ext cx="1400506" cy="614849"/>
          </a:xfrm>
          <a:prstGeom prst="flowChartProcess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b="1" dirty="0">
                <a:solidFill>
                  <a:schemeClr val="tx1"/>
                </a:solidFill>
              </a:rPr>
              <a:t>Current FCD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352A9D-ACD0-1F48-869B-D246BCE0A4CF}"/>
              </a:ext>
            </a:extLst>
          </p:cNvPr>
          <p:cNvSpPr txBox="1"/>
          <p:nvPr/>
        </p:nvSpPr>
        <p:spPr>
          <a:xfrm>
            <a:off x="5948286" y="2335973"/>
            <a:ext cx="1554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200" dirty="0"/>
              <a:t>Prioritize earlier FCD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B51EE5E-B33C-724F-898F-80005C146AB2}"/>
              </a:ext>
            </a:extLst>
          </p:cNvPr>
          <p:cNvSpPr txBox="1"/>
          <p:nvPr/>
        </p:nvSpPr>
        <p:spPr>
          <a:xfrm>
            <a:off x="7977541" y="2371144"/>
            <a:ext cx="1554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200" dirty="0"/>
              <a:t>Prioritize rev order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F6800E5-4618-2048-9533-4E360DAEB7C1}"/>
              </a:ext>
            </a:extLst>
          </p:cNvPr>
          <p:cNvSpPr txBox="1"/>
          <p:nvPr/>
        </p:nvSpPr>
        <p:spPr>
          <a:xfrm>
            <a:off x="2383941" y="2325125"/>
            <a:ext cx="14005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200" dirty="0"/>
              <a:t>Priority number: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N" sz="1200" dirty="0"/>
              <a:t>PR1: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N" sz="1200" dirty="0"/>
              <a:t>PR2: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N" sz="1200" dirty="0"/>
              <a:t>PR3: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N" sz="1200" dirty="0"/>
              <a:t>Top100: 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N" sz="1200" dirty="0"/>
              <a:t>L4: 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N" sz="1200" dirty="0"/>
              <a:t>BUP: 6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8F1665F-1911-0540-91D1-45421890AADA}"/>
              </a:ext>
            </a:extLst>
          </p:cNvPr>
          <p:cNvCxnSpPr>
            <a:cxnSpLocks/>
            <a:stCxn id="24" idx="3"/>
            <a:endCxn id="48" idx="1"/>
          </p:cNvCxnSpPr>
          <p:nvPr/>
        </p:nvCxnSpPr>
        <p:spPr>
          <a:xfrm>
            <a:off x="3654828" y="1995417"/>
            <a:ext cx="497929" cy="2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B6D5473-CF86-C242-814A-7C81E57B91B4}"/>
              </a:ext>
            </a:extLst>
          </p:cNvPr>
          <p:cNvCxnSpPr>
            <a:cxnSpLocks/>
            <a:stCxn id="48" idx="3"/>
            <a:endCxn id="49" idx="1"/>
          </p:cNvCxnSpPr>
          <p:nvPr/>
        </p:nvCxnSpPr>
        <p:spPr>
          <a:xfrm>
            <a:off x="5553262" y="1998112"/>
            <a:ext cx="497929" cy="10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C874533-6947-B547-8858-0768F960B5DD}"/>
              </a:ext>
            </a:extLst>
          </p:cNvPr>
          <p:cNvCxnSpPr>
            <a:cxnSpLocks/>
            <a:stCxn id="49" idx="3"/>
            <a:endCxn id="63" idx="1"/>
          </p:cNvCxnSpPr>
          <p:nvPr/>
        </p:nvCxnSpPr>
        <p:spPr>
          <a:xfrm>
            <a:off x="7451697" y="2008863"/>
            <a:ext cx="4979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Process 63">
            <a:extLst>
              <a:ext uri="{FF2B5EF4-FFF2-40B4-BE49-F238E27FC236}">
                <a16:creationId xmlns:a16="http://schemas.microsoft.com/office/drawing/2014/main" id="{230CCC4E-BF86-E04B-A605-1A4BEF02EA86}"/>
              </a:ext>
            </a:extLst>
          </p:cNvPr>
          <p:cNvSpPr/>
          <p:nvPr/>
        </p:nvSpPr>
        <p:spPr>
          <a:xfrm>
            <a:off x="9842778" y="1701438"/>
            <a:ext cx="1400505" cy="614849"/>
          </a:xfrm>
          <a:prstGeom prst="flowChartProcess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Order qty</a:t>
            </a:r>
            <a:endParaRPr lang="en-CN" sz="1200" dirty="0">
              <a:solidFill>
                <a:schemeClr val="tx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490E59-798F-1A47-A816-80559FA17610}"/>
              </a:ext>
            </a:extLst>
          </p:cNvPr>
          <p:cNvSpPr txBox="1"/>
          <p:nvPr/>
        </p:nvSpPr>
        <p:spPr>
          <a:xfrm>
            <a:off x="9670734" y="2371144"/>
            <a:ext cx="1554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200" dirty="0"/>
              <a:t>Prioritize smaller qty order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0E60637-5DDA-6543-B47C-46409F283CE7}"/>
              </a:ext>
            </a:extLst>
          </p:cNvPr>
          <p:cNvCxnSpPr>
            <a:cxnSpLocks/>
            <a:endCxn id="64" idx="1"/>
          </p:cNvCxnSpPr>
          <p:nvPr/>
        </p:nvCxnSpPr>
        <p:spPr>
          <a:xfrm>
            <a:off x="9350130" y="2003487"/>
            <a:ext cx="492648" cy="5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601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1018-C700-8B4E-A7C7-F40F82B30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Detailed Procedure (to be updated)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EE299-CFC1-BE4E-8022-A67E02DA2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07486" cy="4351338"/>
          </a:xfrm>
        </p:spPr>
        <p:txBody>
          <a:bodyPr>
            <a:normAutofit lnSpcReduction="10000"/>
          </a:bodyPr>
          <a:lstStyle/>
          <a:p>
            <a:r>
              <a:rPr lang="en-CN" dirty="0"/>
              <a:t>Convert NON_REV order ss_rev as 0</a:t>
            </a:r>
          </a:p>
          <a:p>
            <a:r>
              <a:rPr lang="en-CN" dirty="0"/>
              <a:t>Creater min_date: Original FCD, LT target FCD</a:t>
            </a:r>
          </a:p>
          <a:p>
            <a:r>
              <a:rPr lang="en-CN" dirty="0"/>
              <a:t>Define priority orders - PR1/2/3/Top100/L4/BUP; fix DPAS_RATING priority</a:t>
            </a:r>
          </a:p>
          <a:p>
            <a:r>
              <a:rPr lang="en-CN" dirty="0"/>
              <a:t>Give priority orders rank of 1/2/3/4/5/6 </a:t>
            </a:r>
            <a:r>
              <a:rPr lang="en-US" dirty="0"/>
              <a:t>r</a:t>
            </a:r>
            <a:r>
              <a:rPr lang="en-CN" dirty="0"/>
              <a:t>espectively</a:t>
            </a:r>
          </a:p>
          <a:p>
            <a:r>
              <a:rPr lang="en-CN" dirty="0"/>
              <a:t>Create partial_rank:1/2</a:t>
            </a:r>
          </a:p>
          <a:p>
            <a:r>
              <a:rPr lang="en-CN" dirty="0"/>
              <a:t>Sort all orders per ranking rules specified in previous page; </a:t>
            </a:r>
          </a:p>
          <a:p>
            <a:r>
              <a:rPr lang="en-CN" dirty="0"/>
              <a:t>Pickout and put CRSD outside Q and MFG_HOLD orders at the end</a:t>
            </a:r>
          </a:p>
          <a:p>
            <a:r>
              <a:rPr lang="en-CN" dirty="0"/>
              <a:t>Generate rank# for each SS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052367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35F50-900B-AD45-AA39-02F645576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ED81A-877F-EB40-A07D-22342AAD2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Updated on 9/14: change rule to keep non-rev priority orders as priority</a:t>
            </a:r>
          </a:p>
        </p:txBody>
      </p:sp>
    </p:spTree>
    <p:extLst>
      <p:ext uri="{BB962C8B-B14F-4D97-AF65-F5344CB8AC3E}">
        <p14:creationId xmlns:p14="http://schemas.microsoft.com/office/powerpoint/2010/main" val="221282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6117</TotalTime>
  <Words>543</Words>
  <Application>Microsoft Macintosh PowerPoint</Application>
  <PresentationFormat>Widescreen</PresentationFormat>
  <Paragraphs>71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Why Generating Ranking?</vt:lpstr>
      <vt:lpstr>Ranking Logic for 3A4 SS (see next page for new proposal also)</vt:lpstr>
      <vt:lpstr>Ranking Logic for 3A4 SS – new proposal</vt:lpstr>
      <vt:lpstr>Detailed Procedure (to be updated)</vt:lpstr>
      <vt:lpstr>LOG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Ranking Logic for 3A4 SS</dc:title>
  <dc:creator>kwziyi@gmail.com</dc:creator>
  <cp:lastModifiedBy>kwziyi@gmail.com</cp:lastModifiedBy>
  <cp:revision>34</cp:revision>
  <dcterms:created xsi:type="dcterms:W3CDTF">2020-08-11T01:01:17Z</dcterms:created>
  <dcterms:modified xsi:type="dcterms:W3CDTF">2020-09-27T12:34:53Z</dcterms:modified>
</cp:coreProperties>
</file>