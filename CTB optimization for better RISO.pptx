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80"/>
    <a:srgbClr val="FFE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D18FD-D4CC-4163-B221-261AEA246121}" type="datetimeFigureOut">
              <a:rPr lang="en-US" smtClean="0"/>
              <a:t>4/20/21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07F3B-EBF1-45E8-ACC2-8D303F6E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7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431800"/>
            <a:ext cx="1255184" cy="78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25995" y="5057598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867" b="0" i="0">
                <a:solidFill>
                  <a:srgbClr val="FFFFFE"/>
                </a:solidFill>
                <a:latin typeface="+mn-lt"/>
                <a:cs typeface="CiscoSans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625995" y="5377594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867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625995" y="569759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867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723" y="4281951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aseline="0">
                <a:solidFill>
                  <a:srgbClr val="FFFFFE"/>
                </a:solidFill>
                <a:latin typeface="+mj-l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67687" y="3519969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933" b="0" i="0" spc="0" baseline="0">
                <a:solidFill>
                  <a:srgbClr val="FFFFFE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3295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554" y="4279401"/>
            <a:ext cx="6246489" cy="384175"/>
          </a:xfrm>
          <a:prstGeom prst="rect">
            <a:avLst/>
          </a:prstGeom>
        </p:spPr>
        <p:txBody>
          <a:bodyPr vert="horz" lIns="68574" tIns="34288" rIns="68574" bIns="34288" rtlCol="0">
            <a:noAutofit/>
          </a:bodyPr>
          <a:lstStyle>
            <a:lvl1pPr marL="0" indent="0" algn="l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4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01" y="3282703"/>
            <a:ext cx="6283409" cy="1022351"/>
          </a:xfrm>
        </p:spPr>
        <p:txBody>
          <a:bodyPr lIns="61715" tIns="34288" rIns="61715" bIns="34288" rtlCol="0" anchor="b">
            <a:noAutofit/>
          </a:bodyPr>
          <a:lstStyle>
            <a:lvl1pPr marL="0" indent="0" algn="l" defTabSz="914308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933" b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/>
          </p:nvPr>
        </p:nvSpPr>
        <p:spPr>
          <a:xfrm>
            <a:off x="7387175" y="1917701"/>
            <a:ext cx="3568700" cy="2889251"/>
          </a:xfrm>
          <a:prstGeom prst="rect">
            <a:avLst/>
          </a:prstGeom>
        </p:spPr>
        <p:txBody>
          <a:bodyPr lIns="91420" tIns="45710" rIns="91420" bIns="45710" anchor="ctr" anchorCtr="1"/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197713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gradFill rotWithShape="0">
          <a:gsLst>
            <a:gs pos="0">
              <a:schemeClr val="bg2"/>
            </a:gs>
            <a:gs pos="100000">
              <a:schemeClr val="accent1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509F5890-BE05-4D5D-AADF-DD6FDB4C472B}" type="slidenum">
              <a:rPr lang="en-US" sz="8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bg1">
                  <a:alpha val="6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© 2016</a:t>
            </a:r>
            <a:r>
              <a:rPr lang="en-US" sz="800" baseline="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 </a:t>
            </a: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 Cisco and/or its affiliates. All rights reserved.   Cisco Confidential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alphaModFix amt="6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52516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gue">
    <p:bg>
      <p:bgPr>
        <a:solidFill>
          <a:srgbClr val="393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/>
                </a:solidFill>
                <a:latin typeface="+mj-lt"/>
                <a:cs typeface="CiscoSans Thin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bg1">
                  <a:alpha val="6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alphaModFix amt="60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71595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4165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59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8" y="1797051"/>
            <a:ext cx="11127317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74561" indent="-298382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11385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8" y="1797051"/>
            <a:ext cx="11127317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76179" indent="0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None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389377" indent="0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None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768171" indent="0">
              <a:buClr>
                <a:schemeClr val="tx1"/>
              </a:buClr>
              <a:buSzPct val="80000"/>
              <a:buFont typeface="Arial"/>
              <a:buNone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986135" indent="0">
              <a:buClr>
                <a:schemeClr val="tx1"/>
              </a:buClr>
              <a:buSzPct val="80000"/>
              <a:buFont typeface="Arial"/>
              <a:buNone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218916" indent="0">
              <a:buClr>
                <a:schemeClr val="tx1"/>
              </a:buClr>
              <a:buSzPct val="80000"/>
              <a:buFont typeface="Arial"/>
              <a:buNone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308888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9547" y="1194135"/>
            <a:ext cx="11198319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76179" indent="0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None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389377" indent="0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None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768171" indent="0">
              <a:buClr>
                <a:schemeClr val="tx1"/>
              </a:buClr>
              <a:buSzPct val="80000"/>
              <a:buFont typeface="Arial"/>
              <a:buNone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986135" indent="0">
              <a:buClr>
                <a:schemeClr val="tx1"/>
              </a:buClr>
              <a:buSzPct val="80000"/>
              <a:buFont typeface="Arial"/>
              <a:buNone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218916" indent="0">
              <a:buClr>
                <a:schemeClr val="tx1"/>
              </a:buClr>
              <a:buSzPct val="80000"/>
              <a:buFont typeface="Arial"/>
              <a:buNone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501248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04852" y="1168479"/>
            <a:ext cx="11013016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3193" indent="-523187">
              <a:lnSpc>
                <a:spcPts val="592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Arial"/>
              <a:buChar char="•"/>
              <a:defRPr sz="4933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rgbClr val="676767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rgbClr val="676767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rgbClr val="676767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rgbClr val="676767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7258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16401" y="1797051"/>
            <a:ext cx="11036459" cy="42242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74561" indent="-298382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77176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996719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214683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443231" indent="-224314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041048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9" y="1797051"/>
            <a:ext cx="5201497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086392" y="1797051"/>
            <a:ext cx="5624613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36195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87533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05" y="403341"/>
            <a:ext cx="4954660" cy="1101929"/>
          </a:xfrm>
          <a:prstGeom prst="rect">
            <a:avLst/>
          </a:prstGeom>
        </p:spPr>
        <p:txBody>
          <a:bodyPr lIns="61712" tIns="34286" rIns="61712" bIns="34286" rtlCol="0">
            <a:noAutofit/>
          </a:bodyPr>
          <a:lstStyle>
            <a:lvl1pPr algn="l" defTabSz="91427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267" b="0" i="0" kern="1200" spc="-100" baseline="0" dirty="0" smtClean="0">
                <a:solidFill>
                  <a:schemeClr val="tx2"/>
                </a:solidFill>
                <a:latin typeface="+mj-lt"/>
                <a:ea typeface="+mj-ea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6541286" y="403341"/>
            <a:ext cx="4954660" cy="110192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267" b="0" i="0" kern="1200" spc="-100" baseline="0" dirty="0">
                <a:solidFill>
                  <a:schemeClr val="tx2"/>
                </a:solidFill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3905" y="1797051"/>
            <a:ext cx="4954660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541286" y="1797051"/>
            <a:ext cx="4954660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29025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093633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049684" y="812801"/>
            <a:ext cx="0" cy="5312833"/>
          </a:xfrm>
          <a:prstGeom prst="line">
            <a:avLst/>
          </a:prstGeom>
          <a:ln w="38100" cap="flat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615952" y="304425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22"/>
          </p:nvPr>
        </p:nvSpPr>
        <p:spPr>
          <a:xfrm>
            <a:off x="4503638" y="303785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8473085" y="293972"/>
            <a:ext cx="3116145" cy="102728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marR="0" indent="0" algn="l" defTabSz="9142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333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CiscoSans Thi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5951" y="1601459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503637" y="1600428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7"/>
          </p:nvPr>
        </p:nvSpPr>
        <p:spPr>
          <a:xfrm>
            <a:off x="8473083" y="1600428"/>
            <a:ext cx="3116147" cy="441987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11080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133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575866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>
              <a:buClr>
                <a:schemeClr val="tx2"/>
              </a:buClr>
              <a:buSzPct val="80000"/>
              <a:defRPr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591869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760634" y="1773767"/>
            <a:ext cx="4950884" cy="41359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3" tIns="60947" rIns="121893" bIns="6094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864941" y="1975668"/>
            <a:ext cx="4501216" cy="221202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114288" indent="-114288" algn="l" defTabSz="91427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baseline="0" dirty="0" smtClean="0">
                <a:solidFill>
                  <a:schemeClr val="tx2"/>
                </a:solidFill>
                <a:latin typeface="+mn-lt"/>
                <a:ea typeface="+mn-ea"/>
                <a:cs typeface="CiscoSans ExtraLight"/>
              </a:defRPr>
            </a:lvl1pPr>
            <a:lvl2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288" indent="-114288" algn="l" defTabSz="91427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6864942" y="4736592"/>
            <a:ext cx="4674993" cy="33832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>
              <a:buClr>
                <a:schemeClr val="tx2"/>
              </a:buClr>
              <a:buFontTx/>
              <a:buNone/>
              <a:defRPr sz="160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3689" y="1797051"/>
            <a:ext cx="5201497" cy="411079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32" indent="-228548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80000"/>
              <a:buFont typeface="Arial"/>
              <a:buChar char="•"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 marL="609458" indent="-287799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Arial"/>
              <a:buChar char="•"/>
              <a:defRPr sz="2400" b="0" i="0">
                <a:solidFill>
                  <a:schemeClr val="tx2"/>
                </a:solidFill>
                <a:latin typeface="+mn-lt"/>
                <a:cs typeface="CiscoSans ExtraLight"/>
              </a:defRPr>
            </a:lvl2pPr>
            <a:lvl3pPr marL="838006" indent="-228548">
              <a:buClr>
                <a:schemeClr val="tx2"/>
              </a:buClr>
              <a:buSzPct val="80000"/>
              <a:buFont typeface="Arial"/>
              <a:buChar char="•"/>
              <a:defRPr sz="2133" b="0" i="0">
                <a:solidFill>
                  <a:schemeClr val="tx2"/>
                </a:solidFill>
                <a:latin typeface="+mn-lt"/>
                <a:cs typeface="CiscoSans ExtraLight"/>
              </a:defRPr>
            </a:lvl3pPr>
            <a:lvl4pPr marL="1066552" indent="-228548">
              <a:buClr>
                <a:schemeClr val="tx2"/>
              </a:buClr>
              <a:buSzPct val="80000"/>
              <a:buFont typeface="Arial"/>
              <a:buChar char="•"/>
              <a:defRPr sz="1867" b="0" i="0">
                <a:solidFill>
                  <a:schemeClr val="tx2"/>
                </a:solidFill>
                <a:latin typeface="+mn-lt"/>
                <a:cs typeface="CiscoSans ExtraLight"/>
              </a:defRPr>
            </a:lvl4pPr>
            <a:lvl5pPr marL="1295097" indent="-228548">
              <a:buClr>
                <a:schemeClr val="tx2"/>
              </a:buClr>
              <a:buSzPct val="80000"/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174021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293601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6133" b="0" i="1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89521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146800" y="812801"/>
            <a:ext cx="0" cy="5312833"/>
          </a:xfrm>
          <a:prstGeom prst="line">
            <a:avLst/>
          </a:prstGeom>
          <a:ln w="38100" cap="flat" cmpd="sng">
            <a:solidFill>
              <a:srgbClr val="004B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8351" y="1918747"/>
            <a:ext cx="5093797" cy="3020519"/>
          </a:xfrm>
        </p:spPr>
        <p:txBody>
          <a:bodyPr lIns="61715" tIns="34288" rIns="61715" bIns="34288" rtlCol="0">
            <a:noAutofit/>
          </a:bodyPr>
          <a:lstStyle>
            <a:lvl1pPr marL="0" indent="0" algn="l" defTabSz="914308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63360" y="872691"/>
            <a:ext cx="5154507" cy="5120640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FontTx/>
              <a:buNone/>
              <a:defRPr sz="2133" baseline="0">
                <a:solidFill>
                  <a:schemeClr val="tx2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381121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583688" y="1797051"/>
            <a:ext cx="11127317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21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1802399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583688" y="1799167"/>
            <a:ext cx="11127317" cy="354753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2133" b="0" i="0">
                <a:solidFill>
                  <a:schemeClr val="tx2"/>
                </a:solidFill>
                <a:latin typeface="+mj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885676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Chart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583689" y="1799275"/>
            <a:ext cx="5342668" cy="4054364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None/>
              <a:defRPr sz="32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6279877" y="1799166"/>
            <a:ext cx="5431128" cy="4052529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944792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583689" y="1799139"/>
            <a:ext cx="5338660" cy="4054500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>
              <a:buNone/>
              <a:defRPr sz="32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277480" y="1799167"/>
            <a:ext cx="5433525" cy="4054944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399468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8113185" y="2163234"/>
            <a:ext cx="3092449" cy="3090333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63533" y="2163234"/>
            <a:ext cx="3092451" cy="30903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18118" y="2163234"/>
            <a:ext cx="3092449" cy="3090333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1036647" y="3733524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4581926" y="3730928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8131107" y="3730928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027767" y="285737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5603827" y="287041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9122480" y="2857372"/>
            <a:ext cx="1051984" cy="105198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7375045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1032934" y="2163234"/>
            <a:ext cx="3075517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4563534" y="2163234"/>
            <a:ext cx="3075517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14" name="Oval 8"/>
          <p:cNvSpPr>
            <a:spLocks noChangeArrowheads="1"/>
          </p:cNvSpPr>
          <p:nvPr/>
        </p:nvSpPr>
        <p:spPr bwMode="auto">
          <a:xfrm>
            <a:off x="8117417" y="2163234"/>
            <a:ext cx="3073400" cy="3075517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36" tIns="45719" rIns="91436" bIns="45719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defTabSz="1219170" eaLnBrk="1" hangingPunct="1"/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5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1033287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7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4563981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8116671" y="2163193"/>
            <a:ext cx="3074624" cy="3074624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lIns="91424" tIns="45712" rIns="91424" bIns="45712" anchor="ctr" anchorCtr="0"/>
          <a:lstStyle>
            <a:lvl1pPr algn="l">
              <a:buFontTx/>
              <a:buNone/>
              <a:defRPr sz="173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051730" y="5164185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4582424" y="5161589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8135114" y="5161589"/>
            <a:ext cx="3056181" cy="8048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206807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67480" y="3403400"/>
            <a:ext cx="931499" cy="931499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0" y="1902143"/>
            <a:ext cx="931499" cy="931499"/>
          </a:xfrm>
          <a:prstGeom prst="ellipse">
            <a:avLst/>
          </a:prstGeom>
          <a:noFill/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rgbClr val="049FD9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0" y="4870791"/>
            <a:ext cx="931499" cy="931499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820333" y="1910030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820333" y="34103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820333" y="48707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1" y="1900269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0" y="3388917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1" y="4877782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7879317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0" y="3403400"/>
            <a:ext cx="931499" cy="931499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0" y="1902143"/>
            <a:ext cx="931499" cy="93149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0" y="4870791"/>
            <a:ext cx="931499" cy="931499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820333" y="1910030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820333" y="34103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820333" y="4870791"/>
            <a:ext cx="7298267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0" y="3403401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1" y="4868187"/>
            <a:ext cx="931499" cy="924508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767480" y="1902998"/>
            <a:ext cx="931499" cy="924508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5333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040732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1" y="4366109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56120771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1" y="4366109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5333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7571664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667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14752553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2" y="4366109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chemeClr val="accent5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886102" y="2644113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886101" y="1776925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886102" y="3508284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681799" y="1784811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6681800" y="265110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6681800" y="350828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5886102" y="1775050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886102" y="264411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3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04" y="350567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36" name="Oval 35"/>
          <p:cNvSpPr/>
          <p:nvPr/>
        </p:nvSpPr>
        <p:spPr>
          <a:xfrm>
            <a:off x="5886104" y="4371130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3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6681801" y="437113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5886105" y="4368526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5886105" y="5233977"/>
            <a:ext cx="619753" cy="619753"/>
          </a:xfrm>
          <a:prstGeom prst="ellipse">
            <a:avLst/>
          </a:prstGeom>
          <a:noFill/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6681803" y="5233977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5886106" y="523137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chemeClr val="bg2"/>
                  </a:solidFill>
                </a:ln>
                <a:solidFill>
                  <a:srgbClr val="049FD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5880275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767482" y="263909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67481" y="1771904"/>
            <a:ext cx="619753" cy="619753"/>
          </a:xfrm>
          <a:prstGeom prst="ellipse">
            <a:avLst/>
          </a:prstGeom>
          <a:solidFill>
            <a:schemeClr val="bg2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67482" y="3503262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563179" y="177979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563180" y="264608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563180" y="3503262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67482" y="177002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767482" y="263909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67484" y="3500658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767484" y="4366109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563182" y="4366109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767485" y="4363505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767485" y="5228956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563183" y="5228955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767486" y="5226351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5886102" y="2644113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886101" y="1776925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886102" y="3508284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681799" y="1784811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6681800" y="265110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6681800" y="3508283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5886102" y="1775050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886102" y="264411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04" y="3505679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5886104" y="4371130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6681801" y="4371130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5886105" y="4368526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5886105" y="5233977"/>
            <a:ext cx="619753" cy="619753"/>
          </a:xfrm>
          <a:prstGeom prst="ellipse">
            <a:avLst/>
          </a:prstGeom>
          <a:solidFill>
            <a:srgbClr val="049FD9"/>
          </a:solidFill>
          <a:ln w="19050">
            <a:solidFill>
              <a:srgbClr val="049F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20" rtlCol="0" anchor="ctr" anchorCtr="0"/>
          <a:lstStyle/>
          <a:p>
            <a:pPr algn="ctr"/>
            <a:endParaRPr lang="en-US" sz="2667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6681803" y="5233977"/>
            <a:ext cx="2901181" cy="615103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400" b="0" i="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5886106" y="5231373"/>
            <a:ext cx="619753" cy="615103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667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216616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5" y="6172201"/>
            <a:ext cx="977900" cy="48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4635530"/>
            <a:ext cx="10852149" cy="69420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10800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30394" indent="0">
              <a:lnSpc>
                <a:spcPts val="4907"/>
              </a:lnSpc>
              <a:spcBef>
                <a:spcPts val="0"/>
              </a:spcBef>
              <a:buNone/>
              <a:defRPr sz="3200" i="1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6270342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4" y="401383"/>
            <a:ext cx="11417563" cy="3389567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920155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85" y="6172201"/>
            <a:ext cx="977900" cy="48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0364695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62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E6ADCC75-5E05-4D7E-970D-6B4505B4F777}" type="slidenum">
              <a:rPr lang="en-US" sz="800">
                <a:solidFill>
                  <a:srgbClr val="FFFFFF">
                    <a:alpha val="60000"/>
                  </a:srgb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rgbClr val="FFFFFF">
                  <a:alpha val="60000"/>
                </a:srgb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2"/>
          </p:nvPr>
        </p:nvSpPr>
        <p:spPr bwMode="auto">
          <a:xfrm>
            <a:off x="666751" y="4622131"/>
            <a:ext cx="10852149" cy="69534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108000" tIns="0" rIns="91440" bIns="45720" numCol="1" anchor="b" anchorCtr="0" compatLnSpc="1">
            <a:prstTxWarp prst="textNoShape">
              <a:avLst/>
            </a:prstTxWarp>
            <a:spAutoFit/>
          </a:bodyPr>
          <a:lstStyle>
            <a:lvl1pPr marL="230394" indent="-239994">
              <a:lnSpc>
                <a:spcPts val="4907"/>
              </a:lnSpc>
              <a:spcBef>
                <a:spcPts val="0"/>
              </a:spcBef>
              <a:buNone/>
              <a:defRPr sz="4267" i="1">
                <a:solidFill>
                  <a:srgbClr val="58585B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350439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08379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photo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3067" y="795867"/>
            <a:ext cx="7131051" cy="40047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3067" y="4794251"/>
            <a:ext cx="7128933" cy="996949"/>
          </a:xfrm>
          <a:prstGeom prst="rect">
            <a:avLst/>
          </a:prstGeom>
          <a:noFill/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2533651" y="795528"/>
            <a:ext cx="7105651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676767"/>
            </a:solidFill>
          </a:ln>
          <a:effectLst/>
        </p:spPr>
        <p:txBody>
          <a:bodyPr lIns="91424" tIns="45712" rIns="91424" bIns="45712" anchor="ctr" anchorCtr="0"/>
          <a:lstStyle>
            <a:lvl1pPr algn="ctr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54495" y="4873439"/>
            <a:ext cx="6765427" cy="838200"/>
          </a:xfrm>
        </p:spPr>
        <p:txBody>
          <a:bodyPr/>
          <a:lstStyle>
            <a:lvl1pPr>
              <a:defRPr sz="2667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9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hoto_top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2367" y="311151"/>
            <a:ext cx="4364567" cy="245956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733321" y="310896"/>
            <a:ext cx="4364736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676767"/>
            </a:solidFill>
          </a:ln>
          <a:effectLst/>
        </p:spPr>
        <p:txBody>
          <a:bodyPr vert="horz" lIns="68577" tIns="34289" rIns="68577" bIns="34289" rtlCol="0" anchor="ctr" anchorCtr="0">
            <a:normAutofit/>
          </a:bodyPr>
          <a:lstStyle>
            <a:lvl1pPr marL="0" indent="0" algn="ctr" defTabSz="914346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74581" y="3307591"/>
            <a:ext cx="8973153" cy="2152559"/>
          </a:xfrm>
        </p:spPr>
        <p:txBody>
          <a:bodyPr>
            <a:noAutofit/>
          </a:bodyPr>
          <a:lstStyle>
            <a:lvl1pPr marL="0" marR="0" indent="0" algn="l" defTabSz="914346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rait photo_right s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56917" y="728134"/>
            <a:ext cx="4840816" cy="51604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6656832" y="728979"/>
            <a:ext cx="4840224" cy="515975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rgbClr val="2968AF"/>
            </a:solidFill>
          </a:ln>
          <a:effectLst/>
        </p:spPr>
        <p:txBody>
          <a:bodyPr lIns="91424" tIns="45712" rIns="91424" bIns="45712" anchor="ctr" anchorCtr="0"/>
          <a:lstStyle>
            <a:lvl1pPr algn="ctr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83559" y="728980"/>
            <a:ext cx="5799891" cy="1085313"/>
          </a:xfrm>
        </p:spPr>
        <p:txBody>
          <a:bodyPr wrap="none" anchor="t">
            <a:noAutofit/>
          </a:bodyPr>
          <a:lstStyle>
            <a:lvl1pPr>
              <a:lnSpc>
                <a:spcPct val="90000"/>
              </a:lnSpc>
              <a:defRPr sz="3333">
                <a:solidFill>
                  <a:srgbClr val="58585B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4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891617" y="311152"/>
            <a:ext cx="4358216" cy="26606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6617" y="311152"/>
            <a:ext cx="4383616" cy="26606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06985" y="311151"/>
            <a:ext cx="2451100" cy="1308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6618" y="3028952"/>
            <a:ext cx="3363383" cy="34586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81967" y="3028952"/>
            <a:ext cx="5367867" cy="345863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306985" y="1682751"/>
            <a:ext cx="2451100" cy="344381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06985" y="5183717"/>
            <a:ext cx="2451100" cy="1303867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tx1"/>
              </a:solidFill>
              <a:latin typeface="CiscoSans"/>
              <a:cs typeface="CiscoSans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4891994" y="311151"/>
            <a:ext cx="435714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baseline="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27771" y="311151"/>
            <a:ext cx="440266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9306444" y="311151"/>
            <a:ext cx="2451640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/>
          </p:nvPr>
        </p:nvSpPr>
        <p:spPr>
          <a:xfrm>
            <a:off x="427765" y="3028958"/>
            <a:ext cx="3383227" cy="345893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/>
          </p:nvPr>
        </p:nvSpPr>
        <p:spPr>
          <a:xfrm>
            <a:off x="3877779" y="3028958"/>
            <a:ext cx="5371355" cy="345893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/>
          </p:nvPr>
        </p:nvSpPr>
        <p:spPr>
          <a:xfrm>
            <a:off x="9306444" y="1676401"/>
            <a:ext cx="2451640" cy="344941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/>
          </p:nvPr>
        </p:nvSpPr>
        <p:spPr>
          <a:xfrm>
            <a:off x="9306444" y="5182964"/>
            <a:ext cx="2451640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/>
        </p:spPr>
        <p:txBody>
          <a:bodyPr vert="horz" lIns="68574" tIns="34288" rIns="68574" bIns="34288" rtlCol="0" anchor="ctr" anchorCtr="0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b="0" i="0" kern="1200" dirty="0">
                <a:solidFill>
                  <a:schemeClr val="tx1"/>
                </a:solidFill>
                <a:latin typeface="+mn-lt"/>
                <a:ea typeface="+mn-ea"/>
                <a:cs typeface="Broadway" panose="04040905080B02020502" pitchFamily="82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1662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936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scre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edia Placeholder 39"/>
          <p:cNvSpPr>
            <a:spLocks noGrp="1"/>
          </p:cNvSpPr>
          <p:nvPr>
            <p:ph type="media" sz="quarter" idx="11"/>
          </p:nvPr>
        </p:nvSpPr>
        <p:spPr>
          <a:xfrm>
            <a:off x="704851" y="777240"/>
            <a:ext cx="10886575" cy="4425696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4" tIns="34288" rIns="68574" bIns="34288" rtlCol="0" anchor="ctr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67" kern="1200" baseline="0" smtClean="0">
                <a:solidFill>
                  <a:schemeClr val="lt1"/>
                </a:solidFill>
                <a:latin typeface="+mn-lt"/>
                <a:ea typeface="+mn-ea"/>
                <a:cs typeface="CiscoSans"/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02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dia Placeholder 20"/>
          <p:cNvSpPr>
            <a:spLocks noGrp="1"/>
          </p:cNvSpPr>
          <p:nvPr>
            <p:ph type="media" sz="quarter" idx="10"/>
          </p:nvPr>
        </p:nvSpPr>
        <p:spPr>
          <a:xfrm>
            <a:off x="2905785" y="778669"/>
            <a:ext cx="5899416" cy="4425696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4" tIns="34288" rIns="68574" bIns="34288" rtlCol="0" anchor="ctr">
            <a:normAutofit/>
          </a:bodyPr>
          <a:lstStyle>
            <a:lvl1pPr marL="0" indent="0" algn="ctr" defTabSz="914308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67" kern="1200">
                <a:solidFill>
                  <a:schemeClr val="lt1"/>
                </a:solidFill>
                <a:latin typeface="+mn-lt"/>
                <a:ea typeface="+mn-ea"/>
                <a:cs typeface="CiscoSans"/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1202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gradFill rotWithShape="1">
          <a:gsLst>
            <a:gs pos="0">
              <a:schemeClr val="bg2"/>
            </a:gs>
            <a:gs pos="100000">
              <a:schemeClr val="accent1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1" y="2194985"/>
            <a:ext cx="26543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00838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4200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11354627" y="6323876"/>
            <a:ext cx="290868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800">
                <a:solidFill>
                  <a:srgbClr val="000000">
                    <a:alpha val="25000"/>
                  </a:srgb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rgbClr val="000000">
                  <a:alpha val="25000"/>
                </a:srgb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rgbClr val="000000">
                    <a:alpha val="25000"/>
                  </a:srgb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pic>
        <p:nvPicPr>
          <p:cNvPr id="1029" name="Picture 2"/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905" y="6167967"/>
            <a:ext cx="565573" cy="353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60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</p:sldLayoutIdLst>
  <p:transition spd="slow">
    <p:wipe/>
  </p:transition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4267" kern="1200" dirty="0">
          <a:solidFill>
            <a:schemeClr val="tx2"/>
          </a:solidFill>
          <a:latin typeface="+mj-lt"/>
          <a:ea typeface="ＭＳ Ｐゴシック" charset="0"/>
          <a:cs typeface="CiscoSans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88" y="455085"/>
            <a:ext cx="11127317" cy="975783"/>
          </a:xfrm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/>
              <a:t>CTB Improvement Opportunity for Better RISO</a:t>
            </a:r>
            <a:endParaRPr lang="en-C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C69978-B98C-FE42-9616-C4A4546B1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937504"/>
              </p:ext>
            </p:extLst>
          </p:nvPr>
        </p:nvGraphicFramePr>
        <p:xfrm>
          <a:off x="768788" y="1840677"/>
          <a:ext cx="6619983" cy="1850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2305">
                  <a:extLst>
                    <a:ext uri="{9D8B030D-6E8A-4147-A177-3AD203B41FA5}">
                      <a16:colId xmlns:a16="http://schemas.microsoft.com/office/drawing/2014/main" val="2330629556"/>
                    </a:ext>
                  </a:extLst>
                </a:gridCol>
                <a:gridCol w="882305">
                  <a:extLst>
                    <a:ext uri="{9D8B030D-6E8A-4147-A177-3AD203B41FA5}">
                      <a16:colId xmlns:a16="http://schemas.microsoft.com/office/drawing/2014/main" val="1246898213"/>
                    </a:ext>
                  </a:extLst>
                </a:gridCol>
                <a:gridCol w="882305">
                  <a:extLst>
                    <a:ext uri="{9D8B030D-6E8A-4147-A177-3AD203B41FA5}">
                      <a16:colId xmlns:a16="http://schemas.microsoft.com/office/drawing/2014/main" val="3662047822"/>
                    </a:ext>
                  </a:extLst>
                </a:gridCol>
                <a:gridCol w="882305">
                  <a:extLst>
                    <a:ext uri="{9D8B030D-6E8A-4147-A177-3AD203B41FA5}">
                      <a16:colId xmlns:a16="http://schemas.microsoft.com/office/drawing/2014/main" val="2663953504"/>
                    </a:ext>
                  </a:extLst>
                </a:gridCol>
                <a:gridCol w="1004003">
                  <a:extLst>
                    <a:ext uri="{9D8B030D-6E8A-4147-A177-3AD203B41FA5}">
                      <a16:colId xmlns:a16="http://schemas.microsoft.com/office/drawing/2014/main" val="2788931210"/>
                    </a:ext>
                  </a:extLst>
                </a:gridCol>
                <a:gridCol w="2086760">
                  <a:extLst>
                    <a:ext uri="{9D8B030D-6E8A-4147-A177-3AD203B41FA5}">
                      <a16:colId xmlns:a16="http://schemas.microsoft.com/office/drawing/2014/main" val="425993363"/>
                    </a:ext>
                  </a:extLst>
                </a:gridCol>
              </a:tblGrid>
              <a:tr h="696251"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 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FCD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CTB suggestion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Comment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0133389"/>
                  </a:ext>
                </a:extLst>
              </a:tr>
              <a:tr h="3846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5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20-Feb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20-Feb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Keep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7035798"/>
                  </a:ext>
                </a:extLst>
              </a:tr>
              <a:tr h="3846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>
                          <a:effectLst/>
                        </a:rPr>
                        <a:t> </a:t>
                      </a:r>
                      <a:endParaRPr lang="en-C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3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20-Mar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20-Feb</a:t>
                      </a:r>
                      <a:endParaRPr lang="en-US" sz="11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Can pull in 1 month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3415402"/>
                  </a:ext>
                </a:extLst>
              </a:tr>
              <a:tr h="3846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>
                          <a:effectLst/>
                        </a:rPr>
                        <a:t>2</a:t>
                      </a:r>
                      <a:endParaRPr lang="en-C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10-Apr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10-Mar</a:t>
                      </a:r>
                      <a:endParaRPr lang="en-US" sz="11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Can pull in 1 month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08302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33F312-3C61-AF4B-B06C-96112CF11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627180"/>
              </p:ext>
            </p:extLst>
          </p:nvPr>
        </p:nvGraphicFramePr>
        <p:xfrm>
          <a:off x="768788" y="4415080"/>
          <a:ext cx="6619982" cy="1709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0826">
                  <a:extLst>
                    <a:ext uri="{9D8B030D-6E8A-4147-A177-3AD203B41FA5}">
                      <a16:colId xmlns:a16="http://schemas.microsoft.com/office/drawing/2014/main" val="3826974686"/>
                    </a:ext>
                  </a:extLst>
                </a:gridCol>
                <a:gridCol w="893379">
                  <a:extLst>
                    <a:ext uri="{9D8B030D-6E8A-4147-A177-3AD203B41FA5}">
                      <a16:colId xmlns:a16="http://schemas.microsoft.com/office/drawing/2014/main" val="1850171090"/>
                    </a:ext>
                  </a:extLst>
                </a:gridCol>
                <a:gridCol w="903890">
                  <a:extLst>
                    <a:ext uri="{9D8B030D-6E8A-4147-A177-3AD203B41FA5}">
                      <a16:colId xmlns:a16="http://schemas.microsoft.com/office/drawing/2014/main" val="172070860"/>
                    </a:ext>
                  </a:extLst>
                </a:gridCol>
                <a:gridCol w="903889">
                  <a:extLst>
                    <a:ext uri="{9D8B030D-6E8A-4147-A177-3AD203B41FA5}">
                      <a16:colId xmlns:a16="http://schemas.microsoft.com/office/drawing/2014/main" val="4205281445"/>
                    </a:ext>
                  </a:extLst>
                </a:gridCol>
                <a:gridCol w="977462">
                  <a:extLst>
                    <a:ext uri="{9D8B030D-6E8A-4147-A177-3AD203B41FA5}">
                      <a16:colId xmlns:a16="http://schemas.microsoft.com/office/drawing/2014/main" val="4064806185"/>
                    </a:ext>
                  </a:extLst>
                </a:gridCol>
                <a:gridCol w="2070536">
                  <a:extLst>
                    <a:ext uri="{9D8B030D-6E8A-4147-A177-3AD203B41FA5}">
                      <a16:colId xmlns:a16="http://schemas.microsoft.com/office/drawing/2014/main" val="3946266862"/>
                    </a:ext>
                  </a:extLst>
                </a:gridCol>
              </a:tblGrid>
              <a:tr h="643407"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 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FCD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CTB suggestion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Comment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000165"/>
                  </a:ext>
                </a:extLst>
              </a:tr>
              <a:tr h="355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PR1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5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20-Feb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20-Feb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Keep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9762294"/>
                  </a:ext>
                </a:extLst>
              </a:tr>
              <a:tr h="355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>
                          <a:effectLst/>
                        </a:rPr>
                        <a:t> </a:t>
                      </a:r>
                      <a:endParaRPr lang="en-C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 dirty="0">
                          <a:effectLst/>
                        </a:rPr>
                        <a:t>3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20-Mar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10-Mar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Can pull in 10 days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3654056"/>
                  </a:ext>
                </a:extLst>
              </a:tr>
              <a:tr h="355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SS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L4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100" u="none" strike="noStrike">
                          <a:effectLst/>
                        </a:rPr>
                        <a:t>2</a:t>
                      </a:r>
                      <a:endParaRPr lang="en-C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10-Apr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20-Feb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Can pull in 40 days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19584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344DB0B-C117-1344-8489-B515BFC01972}"/>
              </a:ext>
            </a:extLst>
          </p:cNvPr>
          <p:cNvSpPr txBox="1"/>
          <p:nvPr/>
        </p:nvSpPr>
        <p:spPr>
          <a:xfrm>
            <a:off x="657222" y="1528761"/>
            <a:ext cx="472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What we can do with CTB suggestion today: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EF1E49-B05E-E841-8518-98E8B084FA31}"/>
              </a:ext>
            </a:extLst>
          </p:cNvPr>
          <p:cNvSpPr txBox="1"/>
          <p:nvPr/>
        </p:nvSpPr>
        <p:spPr>
          <a:xfrm>
            <a:off x="768788" y="4035237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What we actual expect: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5C7FD-DFF3-934B-9017-864E7086332B}"/>
              </a:ext>
            </a:extLst>
          </p:cNvPr>
          <p:cNvSpPr txBox="1"/>
          <p:nvPr/>
        </p:nvSpPr>
        <p:spPr>
          <a:xfrm>
            <a:off x="7500337" y="2581140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(Ranking based on “production_ranking”)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16F02-88B2-E447-8A68-0A5B8CE9126D}"/>
              </a:ext>
            </a:extLst>
          </p:cNvPr>
          <p:cNvSpPr txBox="1"/>
          <p:nvPr/>
        </p:nvSpPr>
        <p:spPr>
          <a:xfrm>
            <a:off x="7500336" y="5085327"/>
            <a:ext cx="3690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(Pull in considering “riso_ranking”)</a:t>
            </a:r>
          </a:p>
        </p:txBody>
      </p:sp>
    </p:spTree>
    <p:extLst>
      <p:ext uri="{BB962C8B-B14F-4D97-AF65-F5344CB8AC3E}">
        <p14:creationId xmlns:p14="http://schemas.microsoft.com/office/powerpoint/2010/main" val="10215581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theme/theme1.xml><?xml version="1.0" encoding="utf-8"?>
<a:theme xmlns:a="http://schemas.openxmlformats.org/drawingml/2006/main" name="Blue theme 2016 16x9">
  <a:themeElements>
    <a:clrScheme name="Blue Theme 2016 Colors">
      <a:dk1>
        <a:srgbClr val="58585B"/>
      </a:dk1>
      <a:lt1>
        <a:srgbClr val="FFFFFF"/>
      </a:lt1>
      <a:dk2>
        <a:srgbClr val="58585B"/>
      </a:dk2>
      <a:lt2>
        <a:srgbClr val="049FD9"/>
      </a:lt2>
      <a:accent1>
        <a:srgbClr val="004BAF"/>
      </a:accent1>
      <a:accent2>
        <a:srgbClr val="64BBE3"/>
      </a:accent2>
      <a:accent3>
        <a:srgbClr val="E8EBF1"/>
      </a:accent3>
      <a:accent4>
        <a:srgbClr val="9E9EA2"/>
      </a:accent4>
      <a:accent5>
        <a:srgbClr val="049FD9"/>
      </a:accent5>
      <a:accent6>
        <a:srgbClr val="ABC233"/>
      </a:accent6>
      <a:hlink>
        <a:srgbClr val="049FD9"/>
      </a:hlink>
      <a:folHlink>
        <a:srgbClr val="004BA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DC503DE1-91F3-4E06-9D47-79C2309E909B}" vid="{C266BCD2-BF24-49DE-B4C0-2E591CE229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7916</TotalTime>
  <Words>110</Words>
  <Application>Microsoft Macintosh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Ciscolight</vt:lpstr>
      <vt:lpstr>Arial</vt:lpstr>
      <vt:lpstr>Calibri</vt:lpstr>
      <vt:lpstr>CiscoSans</vt:lpstr>
      <vt:lpstr>CiscoSans ExtraLight</vt:lpstr>
      <vt:lpstr>Blue theme 2016 16x9</vt:lpstr>
      <vt:lpstr>CTB Improvement Opportunity for Better RISO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Experimentation using full PCBA SCR  Supply/capacity – DF CTB – Material impact</dc:title>
  <dc:creator>kwziyi@gmail.com</dc:creator>
  <cp:lastModifiedBy>kwziyi@gmail.com</cp:lastModifiedBy>
  <cp:revision>40</cp:revision>
  <dcterms:created xsi:type="dcterms:W3CDTF">2020-06-19T01:19:26Z</dcterms:created>
  <dcterms:modified xsi:type="dcterms:W3CDTF">2021-04-20T07:24:33Z</dcterms:modified>
</cp:coreProperties>
</file>