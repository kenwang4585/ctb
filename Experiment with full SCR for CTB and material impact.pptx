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"/>
  </p:notesMasterIdLst>
  <p:sldIdLst>
    <p:sldId id="267" r:id="rId2"/>
    <p:sldId id="276" r:id="rId3"/>
    <p:sldId id="268" r:id="rId4"/>
    <p:sldId id="272" r:id="rId5"/>
    <p:sldId id="271" r:id="rId6"/>
    <p:sldId id="273" r:id="rId7"/>
    <p:sldId id="881" r:id="rId8"/>
    <p:sldId id="278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80"/>
    <a:srgbClr val="FFE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EF4F5-0EB7-4E2C-A7C0-FCB8156361D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C070B7E-168D-4224-9755-5A22585EB1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projection</a:t>
          </a:r>
        </a:p>
      </dgm:t>
    </dgm:pt>
    <dgm:pt modelId="{651C8DD2-10E4-4DCF-B47F-8C365D852B51}" type="parTrans" cxnId="{7A51598F-672B-4418-9AED-E1F3683EA260}">
      <dgm:prSet/>
      <dgm:spPr/>
      <dgm:t>
        <a:bodyPr/>
        <a:lstStyle/>
        <a:p>
          <a:endParaRPr lang="en-US"/>
        </a:p>
      </dgm:t>
    </dgm:pt>
    <dgm:pt modelId="{18D202BF-F326-436B-9ADE-85F6B68D8537}" type="sibTrans" cxnId="{7A51598F-672B-4418-9AED-E1F3683EA260}">
      <dgm:prSet/>
      <dgm:spPr/>
      <dgm:t>
        <a:bodyPr/>
        <a:lstStyle/>
        <a:p>
          <a:endParaRPr lang="en-US"/>
        </a:p>
      </dgm:t>
    </dgm:pt>
    <dgm:pt modelId="{36E76F15-94FC-46BC-B3B9-E6DFC28E2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po_ctb date</a:t>
          </a:r>
        </a:p>
      </dgm:t>
    </dgm:pt>
    <dgm:pt modelId="{ED0A0467-7DA3-49B4-B605-962170A3CAAF}" type="parTrans" cxnId="{3B7D2BFF-BB18-44FA-8568-E5BDA73877CE}">
      <dgm:prSet/>
      <dgm:spPr/>
      <dgm:t>
        <a:bodyPr/>
        <a:lstStyle/>
        <a:p>
          <a:endParaRPr lang="en-US"/>
        </a:p>
      </dgm:t>
    </dgm:pt>
    <dgm:pt modelId="{3A47B4FA-727E-4936-8779-97C1F8917F66}" type="sibTrans" cxnId="{3B7D2BFF-BB18-44FA-8568-E5BDA73877CE}">
      <dgm:prSet/>
      <dgm:spPr/>
      <dgm:t>
        <a:bodyPr/>
        <a:lstStyle/>
        <a:p>
          <a:endParaRPr lang="en-US"/>
        </a:p>
      </dgm:t>
    </dgm:pt>
    <dgm:pt modelId="{D203B601-E91A-4EE8-9372-7D1EA9B863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C_UNSTAGED_DOLLARS</a:t>
          </a:r>
        </a:p>
      </dgm:t>
    </dgm:pt>
    <dgm:pt modelId="{C6259A9A-72B2-4143-B33A-61324541E8B3}" type="parTrans" cxnId="{A3C8B2E0-0578-4EC2-947A-C11C972EC374}">
      <dgm:prSet/>
      <dgm:spPr/>
      <dgm:t>
        <a:bodyPr/>
        <a:lstStyle/>
        <a:p>
          <a:endParaRPr lang="en-US"/>
        </a:p>
      </dgm:t>
    </dgm:pt>
    <dgm:pt modelId="{DCA4E6BB-AFA1-4230-9ED4-B56499882E73}" type="sibTrans" cxnId="{A3C8B2E0-0578-4EC2-947A-C11C972EC374}">
      <dgm:prSet/>
      <dgm:spPr/>
      <dgm:t>
        <a:bodyPr/>
        <a:lstStyle/>
        <a:p>
          <a:endParaRPr lang="en-US"/>
        </a:p>
      </dgm:t>
    </dgm:pt>
    <dgm:pt modelId="{1AF46B4F-A813-4A9A-8278-F675A0C34B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Order status summary</a:t>
          </a:r>
        </a:p>
      </dgm:t>
    </dgm:pt>
    <dgm:pt modelId="{3ED5D83A-BED1-4556-9902-EEB9A5F459D1}" type="parTrans" cxnId="{A0894C96-F652-420E-9A58-290720371327}">
      <dgm:prSet/>
      <dgm:spPr/>
      <dgm:t>
        <a:bodyPr/>
        <a:lstStyle/>
        <a:p>
          <a:endParaRPr lang="en-US"/>
        </a:p>
      </dgm:t>
    </dgm:pt>
    <dgm:pt modelId="{87BCDB7D-9D0D-410D-B46F-86036F70781F}" type="sibTrans" cxnId="{A0894C96-F652-420E-9A58-290720371327}">
      <dgm:prSet/>
      <dgm:spPr/>
      <dgm:t>
        <a:bodyPr/>
        <a:lstStyle/>
        <a:p>
          <a:endParaRPr lang="en-US"/>
        </a:p>
      </dgm:t>
    </dgm:pt>
    <dgm:pt modelId="{914F4D96-4D4B-4349-B520-DC4E0D1BEB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ss_updated_status generated from ss_ctb</a:t>
          </a:r>
        </a:p>
      </dgm:t>
    </dgm:pt>
    <dgm:pt modelId="{40889072-2BE3-4216-8CB6-1DD4544986C8}" type="parTrans" cxnId="{6191BA68-789E-456D-901D-F3E2725D728B}">
      <dgm:prSet/>
      <dgm:spPr/>
      <dgm:t>
        <a:bodyPr/>
        <a:lstStyle/>
        <a:p>
          <a:endParaRPr lang="en-US"/>
        </a:p>
      </dgm:t>
    </dgm:pt>
    <dgm:pt modelId="{B436E51C-D365-48CE-84F7-04F255F2E32B}" type="sibTrans" cxnId="{6191BA68-789E-456D-901D-F3E2725D728B}">
      <dgm:prSet/>
      <dgm:spPr/>
      <dgm:t>
        <a:bodyPr/>
        <a:lstStyle/>
        <a:p>
          <a:endParaRPr lang="en-US"/>
        </a:p>
      </dgm:t>
    </dgm:pt>
    <dgm:pt modelId="{5A53DF21-48DF-4EC5-819C-805C0AEF07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current FCD date (unscheduled orders will not show up in the summary)</a:t>
          </a:r>
        </a:p>
      </dgm:t>
    </dgm:pt>
    <dgm:pt modelId="{0AF9AB30-B502-4C82-B7DD-2130573A3BB8}" type="parTrans" cxnId="{7D7204EF-4421-47F9-9E2E-404589A43FDB}">
      <dgm:prSet/>
      <dgm:spPr/>
      <dgm:t>
        <a:bodyPr/>
        <a:lstStyle/>
        <a:p>
          <a:endParaRPr lang="en-US"/>
        </a:p>
      </dgm:t>
    </dgm:pt>
    <dgm:pt modelId="{FE0E775D-1555-464F-8E71-B4576C89E93B}" type="sibTrans" cxnId="{7D7204EF-4421-47F9-9E2E-404589A43FDB}">
      <dgm:prSet/>
      <dgm:spPr/>
      <dgm:t>
        <a:bodyPr/>
        <a:lstStyle/>
        <a:p>
          <a:endParaRPr lang="en-US"/>
        </a:p>
      </dgm:t>
    </dgm:pt>
    <dgm:pt modelId="{DD88DFCF-63EE-471D-887A-BAA6E844F3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C_UNSTAGED_DOLLARS</a:t>
          </a:r>
        </a:p>
      </dgm:t>
    </dgm:pt>
    <dgm:pt modelId="{B7ED0289-C715-47EE-8C93-44CA747CB07E}" type="parTrans" cxnId="{E11630E2-554E-4244-A78E-22E83AA633CB}">
      <dgm:prSet/>
      <dgm:spPr/>
      <dgm:t>
        <a:bodyPr/>
        <a:lstStyle/>
        <a:p>
          <a:endParaRPr lang="en-US"/>
        </a:p>
      </dgm:t>
    </dgm:pt>
    <dgm:pt modelId="{C1E48F70-8E12-47E5-A76C-8A16849C5B85}" type="sibTrans" cxnId="{E11630E2-554E-4244-A78E-22E83AA633CB}">
      <dgm:prSet/>
      <dgm:spPr/>
      <dgm:t>
        <a:bodyPr/>
        <a:lstStyle/>
        <a:p>
          <a:endParaRPr lang="en-US"/>
        </a:p>
      </dgm:t>
    </dgm:pt>
    <dgm:pt modelId="{8E7A7F9E-8941-4931-BB63-7965FAE366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RISO status summary</a:t>
          </a:r>
        </a:p>
      </dgm:t>
    </dgm:pt>
    <dgm:pt modelId="{EA477C5A-4F15-4962-BCF5-FF4FE6AEA3B7}" type="parTrans" cxnId="{8CEC03B8-AFD3-4D2C-8407-8241936BABB5}">
      <dgm:prSet/>
      <dgm:spPr/>
      <dgm:t>
        <a:bodyPr/>
        <a:lstStyle/>
        <a:p>
          <a:endParaRPr lang="en-US"/>
        </a:p>
      </dgm:t>
    </dgm:pt>
    <dgm:pt modelId="{C638435A-975A-41AD-8B1A-16EEF0B999EE}" type="sibTrans" cxnId="{8CEC03B8-AFD3-4D2C-8407-8241936BABB5}">
      <dgm:prSet/>
      <dgm:spPr/>
      <dgm:t>
        <a:bodyPr/>
        <a:lstStyle/>
        <a:p>
          <a:endParaRPr lang="en-US"/>
        </a:p>
      </dgm:t>
    </dgm:pt>
    <dgm:pt modelId="{70120BAA-F566-4E22-89C3-25B2C229E0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RISO(as is) and RISO(to be) </a:t>
          </a:r>
        </a:p>
      </dgm:t>
    </dgm:pt>
    <dgm:pt modelId="{BBE30635-D303-4E1F-8E23-B71A621B613A}" type="parTrans" cxnId="{37F42E31-0229-4859-94D6-19659BC482B6}">
      <dgm:prSet/>
      <dgm:spPr/>
      <dgm:t>
        <a:bodyPr/>
        <a:lstStyle/>
        <a:p>
          <a:endParaRPr lang="en-US"/>
        </a:p>
      </dgm:t>
    </dgm:pt>
    <dgm:pt modelId="{A3DD81FD-D3CF-4FF7-BCA2-8FFBDA33D66D}" type="sibTrans" cxnId="{37F42E31-0229-4859-94D6-19659BC482B6}">
      <dgm:prSet/>
      <dgm:spPr/>
      <dgm:t>
        <a:bodyPr/>
        <a:lstStyle/>
        <a:p>
          <a:endParaRPr lang="en-US"/>
        </a:p>
      </dgm:t>
    </dgm:pt>
    <dgm:pt modelId="{B01E3DA9-CF11-4712-8CD5-436F1DC73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ss_unstg_rev</a:t>
          </a:r>
        </a:p>
      </dgm:t>
    </dgm:pt>
    <dgm:pt modelId="{65815679-9E57-4BEA-824B-FA6ED782A380}" type="parTrans" cxnId="{D75196B5-338B-42B8-96A5-38340E69A480}">
      <dgm:prSet/>
      <dgm:spPr/>
      <dgm:t>
        <a:bodyPr/>
        <a:lstStyle/>
        <a:p>
          <a:endParaRPr lang="en-US"/>
        </a:p>
      </dgm:t>
    </dgm:pt>
    <dgm:pt modelId="{15488E44-7102-4F11-A2EE-58123B79247B}" type="sibTrans" cxnId="{D75196B5-338B-42B8-96A5-38340E69A480}">
      <dgm:prSet/>
      <dgm:spPr/>
      <dgm:t>
        <a:bodyPr/>
        <a:lstStyle/>
        <a:p>
          <a:endParaRPr lang="en-US"/>
        </a:p>
      </dgm:t>
    </dgm:pt>
    <dgm:pt modelId="{A863892B-0B10-4C37-9ED0-A56FA1A8B8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impact summaries</a:t>
          </a:r>
        </a:p>
      </dgm:t>
    </dgm:pt>
    <dgm:pt modelId="{68378A86-0BF2-4AC1-81CC-FACF2940145F}" type="parTrans" cxnId="{9A707241-0953-46E4-8D75-683B7ABFBBCA}">
      <dgm:prSet/>
      <dgm:spPr/>
      <dgm:t>
        <a:bodyPr/>
        <a:lstStyle/>
        <a:p>
          <a:endParaRPr lang="en-US"/>
        </a:p>
      </dgm:t>
    </dgm:pt>
    <dgm:pt modelId="{96CC1975-44CF-49D7-81CA-EF3EDEFA5956}" type="sibTrans" cxnId="{9A707241-0953-46E4-8D75-683B7ABFBBCA}">
      <dgm:prSet/>
      <dgm:spPr/>
      <dgm:t>
        <a:bodyPr/>
        <a:lstStyle/>
        <a:p>
          <a:endParaRPr lang="en-US"/>
        </a:p>
      </dgm:t>
    </dgm:pt>
    <dgm:pt modelId="{ACBE8389-3213-4163-8E8C-5155C1A2E6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tan_supply_ready_date instead of po_ctb</a:t>
          </a:r>
        </a:p>
      </dgm:t>
    </dgm:pt>
    <dgm:pt modelId="{F23DB4C0-945F-453A-B9C4-B1321BCA1FDE}" type="parTrans" cxnId="{B678ED88-D47C-441B-AA35-E06061A527F0}">
      <dgm:prSet/>
      <dgm:spPr/>
      <dgm:t>
        <a:bodyPr/>
        <a:lstStyle/>
        <a:p>
          <a:endParaRPr lang="en-US"/>
        </a:p>
      </dgm:t>
    </dgm:pt>
    <dgm:pt modelId="{4AE1E207-8879-4AE2-9BE4-7F2B860DDF1D}" type="sibTrans" cxnId="{B678ED88-D47C-441B-AA35-E06061A527F0}">
      <dgm:prSet/>
      <dgm:spPr/>
      <dgm:t>
        <a:bodyPr/>
        <a:lstStyle/>
        <a:p>
          <a:endParaRPr lang="en-US"/>
        </a:p>
      </dgm:t>
    </dgm:pt>
    <dgm:pt modelId="{0E9BBA37-EAD8-48E7-AD02-2F64DA7C4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tan_supply_ready_date cut off is Thursday of of each cut off week</a:t>
          </a:r>
        </a:p>
      </dgm:t>
    </dgm:pt>
    <dgm:pt modelId="{4022BDAE-2F11-4C6A-9AB2-BE81947958CB}" type="parTrans" cxnId="{F3843BBC-3112-42B8-995D-9122A02780A5}">
      <dgm:prSet/>
      <dgm:spPr/>
      <dgm:t>
        <a:bodyPr/>
        <a:lstStyle/>
        <a:p>
          <a:endParaRPr lang="en-US"/>
        </a:p>
      </dgm:t>
    </dgm:pt>
    <dgm:pt modelId="{2A80CFFE-5B29-46AF-A578-C64C413672BB}" type="sibTrans" cxnId="{F3843BBC-3112-42B8-995D-9122A02780A5}">
      <dgm:prSet/>
      <dgm:spPr/>
      <dgm:t>
        <a:bodyPr/>
        <a:lstStyle/>
        <a:p>
          <a:endParaRPr lang="en-US"/>
        </a:p>
      </dgm:t>
    </dgm:pt>
    <dgm:pt modelId="{506EF121-708F-4B66-A5D8-2828B470BE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Have different cut offs: wk0 – current week, wk1/2/3…. And </a:t>
          </a:r>
          <a:r>
            <a:rPr lang="en-US" dirty="0" err="1"/>
            <a:t>qend</a:t>
          </a:r>
          <a:r>
            <a:rPr lang="en-US" dirty="0"/>
            <a:t> (backlog is based on “addressable” backlog based on specific week cutoff)</a:t>
          </a:r>
        </a:p>
      </dgm:t>
    </dgm:pt>
    <dgm:pt modelId="{C52FAC88-AA46-4F7A-89EF-D7FBD19CE68C}" type="parTrans" cxnId="{8D4F76FF-36EC-46B5-B735-3BBB46CF7392}">
      <dgm:prSet/>
      <dgm:spPr/>
      <dgm:t>
        <a:bodyPr/>
        <a:lstStyle/>
        <a:p>
          <a:endParaRPr lang="en-US"/>
        </a:p>
      </dgm:t>
    </dgm:pt>
    <dgm:pt modelId="{F42EA56B-DC25-440F-9D8D-D2DBAE4E2D1C}" type="sibTrans" cxnId="{8D4F76FF-36EC-46B5-B735-3BBB46CF7392}">
      <dgm:prSet/>
      <dgm:spPr/>
      <dgm:t>
        <a:bodyPr/>
        <a:lstStyle/>
        <a:p>
          <a:endParaRPr lang="en-US"/>
        </a:p>
      </dgm:t>
    </dgm:pt>
    <dgm:pt modelId="{C9C0AEA5-7774-4B32-A0FB-48C9EE508847}" type="pres">
      <dgm:prSet presAssocID="{F11EF4F5-0EB7-4E2C-A7C0-FCB8156361D1}" presName="root" presStyleCnt="0">
        <dgm:presLayoutVars>
          <dgm:dir/>
          <dgm:resizeHandles val="exact"/>
        </dgm:presLayoutVars>
      </dgm:prSet>
      <dgm:spPr/>
    </dgm:pt>
    <dgm:pt modelId="{732FB13E-3B96-4102-A5AB-F70613A30A85}" type="pres">
      <dgm:prSet presAssocID="{9C070B7E-168D-4224-9755-5A22585EB138}" presName="compNode" presStyleCnt="0"/>
      <dgm:spPr/>
    </dgm:pt>
    <dgm:pt modelId="{2BD6348D-27A7-42EB-BE6C-87E02A1282C6}" type="pres">
      <dgm:prSet presAssocID="{9C070B7E-168D-4224-9755-5A22585EB138}" presName="bgRect" presStyleLbl="bgShp" presStyleIdx="0" presStyleCnt="4"/>
      <dgm:spPr/>
    </dgm:pt>
    <dgm:pt modelId="{D4C34D8B-CAB3-4CEB-8EFB-CCC7EBFCAAC3}" type="pres">
      <dgm:prSet presAssocID="{9C070B7E-168D-4224-9755-5A22585EB1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6D6D608-A6CD-4D83-9230-C1604B3F1E5B}" type="pres">
      <dgm:prSet presAssocID="{9C070B7E-168D-4224-9755-5A22585EB138}" presName="spaceRect" presStyleCnt="0"/>
      <dgm:spPr/>
    </dgm:pt>
    <dgm:pt modelId="{07C05C4E-1934-4154-ACF3-4A6BBD5C4EBB}" type="pres">
      <dgm:prSet presAssocID="{9C070B7E-168D-4224-9755-5A22585EB138}" presName="parTx" presStyleLbl="revTx" presStyleIdx="0" presStyleCnt="8">
        <dgm:presLayoutVars>
          <dgm:chMax val="0"/>
          <dgm:chPref val="0"/>
        </dgm:presLayoutVars>
      </dgm:prSet>
      <dgm:spPr/>
    </dgm:pt>
    <dgm:pt modelId="{575D22E6-A353-477E-8CAA-1DD0427DA0E7}" type="pres">
      <dgm:prSet presAssocID="{9C070B7E-168D-4224-9755-5A22585EB138}" presName="desTx" presStyleLbl="revTx" presStyleIdx="1" presStyleCnt="8">
        <dgm:presLayoutVars/>
      </dgm:prSet>
      <dgm:spPr/>
    </dgm:pt>
    <dgm:pt modelId="{0D17901C-4C24-419D-9A1E-1D2D849CA935}" type="pres">
      <dgm:prSet presAssocID="{18D202BF-F326-436B-9ADE-85F6B68D8537}" presName="sibTrans" presStyleCnt="0"/>
      <dgm:spPr/>
    </dgm:pt>
    <dgm:pt modelId="{D4CAE324-C9BB-41BA-BA1A-92543538F871}" type="pres">
      <dgm:prSet presAssocID="{1AF46B4F-A813-4A9A-8278-F675A0C34B73}" presName="compNode" presStyleCnt="0"/>
      <dgm:spPr/>
    </dgm:pt>
    <dgm:pt modelId="{7EBD5E8C-E607-4100-8B42-DB0EBBD8C007}" type="pres">
      <dgm:prSet presAssocID="{1AF46B4F-A813-4A9A-8278-F675A0C34B73}" presName="bgRect" presStyleLbl="bgShp" presStyleIdx="1" presStyleCnt="4" custScaleY="143056"/>
      <dgm:spPr/>
    </dgm:pt>
    <dgm:pt modelId="{CE8557D7-D045-4F73-B61A-942ACEC2B9DA}" type="pres">
      <dgm:prSet presAssocID="{1AF46B4F-A813-4A9A-8278-F675A0C34B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46F550-D04C-47DA-975A-49299E9D0A92}" type="pres">
      <dgm:prSet presAssocID="{1AF46B4F-A813-4A9A-8278-F675A0C34B73}" presName="spaceRect" presStyleCnt="0"/>
      <dgm:spPr/>
    </dgm:pt>
    <dgm:pt modelId="{ADF53673-43C1-4EF6-9CD5-5C5A9533A9E6}" type="pres">
      <dgm:prSet presAssocID="{1AF46B4F-A813-4A9A-8278-F675A0C34B73}" presName="parTx" presStyleLbl="revTx" presStyleIdx="2" presStyleCnt="8">
        <dgm:presLayoutVars>
          <dgm:chMax val="0"/>
          <dgm:chPref val="0"/>
        </dgm:presLayoutVars>
      </dgm:prSet>
      <dgm:spPr/>
    </dgm:pt>
    <dgm:pt modelId="{14778545-E6B4-4097-9F1B-F1E454A44C73}" type="pres">
      <dgm:prSet presAssocID="{1AF46B4F-A813-4A9A-8278-F675A0C34B73}" presName="desTx" presStyleLbl="revTx" presStyleIdx="3" presStyleCnt="8">
        <dgm:presLayoutVars/>
      </dgm:prSet>
      <dgm:spPr/>
    </dgm:pt>
    <dgm:pt modelId="{C8EF28C6-0F30-43DE-AA62-B9BCC28030FC}" type="pres">
      <dgm:prSet presAssocID="{87BCDB7D-9D0D-410D-B46F-86036F70781F}" presName="sibTrans" presStyleCnt="0"/>
      <dgm:spPr/>
    </dgm:pt>
    <dgm:pt modelId="{8BCA8184-CA49-4245-A5EE-E2436E128A56}" type="pres">
      <dgm:prSet presAssocID="{8E7A7F9E-8941-4931-BB63-7965FAE366BD}" presName="compNode" presStyleCnt="0"/>
      <dgm:spPr/>
    </dgm:pt>
    <dgm:pt modelId="{C5DC510F-405D-4423-BEA0-6814EB093ED5}" type="pres">
      <dgm:prSet presAssocID="{8E7A7F9E-8941-4931-BB63-7965FAE366BD}" presName="bgRect" presStyleLbl="bgShp" presStyleIdx="2" presStyleCnt="4"/>
      <dgm:spPr/>
    </dgm:pt>
    <dgm:pt modelId="{7FA4CA30-9796-4EEE-BD1A-F44ED31CCBA4}" type="pres">
      <dgm:prSet presAssocID="{8E7A7F9E-8941-4931-BB63-7965FAE366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8001EC5F-B71C-4481-BB00-B50186E2D1E7}" type="pres">
      <dgm:prSet presAssocID="{8E7A7F9E-8941-4931-BB63-7965FAE366BD}" presName="spaceRect" presStyleCnt="0"/>
      <dgm:spPr/>
    </dgm:pt>
    <dgm:pt modelId="{3C6D1CC7-D4B7-4764-AB51-308D8A150674}" type="pres">
      <dgm:prSet presAssocID="{8E7A7F9E-8941-4931-BB63-7965FAE366BD}" presName="parTx" presStyleLbl="revTx" presStyleIdx="4" presStyleCnt="8">
        <dgm:presLayoutVars>
          <dgm:chMax val="0"/>
          <dgm:chPref val="0"/>
        </dgm:presLayoutVars>
      </dgm:prSet>
      <dgm:spPr/>
    </dgm:pt>
    <dgm:pt modelId="{AB7A8522-0450-4A1C-934E-F3AE86964A9D}" type="pres">
      <dgm:prSet presAssocID="{8E7A7F9E-8941-4931-BB63-7965FAE366BD}" presName="desTx" presStyleLbl="revTx" presStyleIdx="5" presStyleCnt="8">
        <dgm:presLayoutVars/>
      </dgm:prSet>
      <dgm:spPr/>
    </dgm:pt>
    <dgm:pt modelId="{17633045-3D04-491F-89A7-06D9415FEA02}" type="pres">
      <dgm:prSet presAssocID="{C638435A-975A-41AD-8B1A-16EEF0B999EE}" presName="sibTrans" presStyleCnt="0"/>
      <dgm:spPr/>
    </dgm:pt>
    <dgm:pt modelId="{42A5FF25-EFB3-4DEF-9919-DEC97D289E17}" type="pres">
      <dgm:prSet presAssocID="{A863892B-0B10-4C37-9ED0-A56FA1A8B861}" presName="compNode" presStyleCnt="0"/>
      <dgm:spPr/>
    </dgm:pt>
    <dgm:pt modelId="{ABF2F38F-6A21-4024-B879-16A2AD421D1E}" type="pres">
      <dgm:prSet presAssocID="{A863892B-0B10-4C37-9ED0-A56FA1A8B861}" presName="bgRect" presStyleLbl="bgShp" presStyleIdx="3" presStyleCnt="4" custScaleY="174149"/>
      <dgm:spPr/>
    </dgm:pt>
    <dgm:pt modelId="{0A51CF41-F51B-4909-89A0-105CF663DA25}" type="pres">
      <dgm:prSet presAssocID="{A863892B-0B10-4C37-9ED0-A56FA1A8B8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293171AB-12A7-4712-BF10-4586C819BDD4}" type="pres">
      <dgm:prSet presAssocID="{A863892B-0B10-4C37-9ED0-A56FA1A8B861}" presName="spaceRect" presStyleCnt="0"/>
      <dgm:spPr/>
    </dgm:pt>
    <dgm:pt modelId="{892751B5-631C-4660-B03D-B6C045510B9F}" type="pres">
      <dgm:prSet presAssocID="{A863892B-0B10-4C37-9ED0-A56FA1A8B861}" presName="parTx" presStyleLbl="revTx" presStyleIdx="6" presStyleCnt="8">
        <dgm:presLayoutVars>
          <dgm:chMax val="0"/>
          <dgm:chPref val="0"/>
        </dgm:presLayoutVars>
      </dgm:prSet>
      <dgm:spPr/>
    </dgm:pt>
    <dgm:pt modelId="{6A5B6173-A18F-4ED3-8D69-511E673921BE}" type="pres">
      <dgm:prSet presAssocID="{A863892B-0B10-4C37-9ED0-A56FA1A8B861}" presName="desTx" presStyleLbl="revTx" presStyleIdx="7" presStyleCnt="8" custScaleY="190268">
        <dgm:presLayoutVars/>
      </dgm:prSet>
      <dgm:spPr/>
    </dgm:pt>
  </dgm:ptLst>
  <dgm:cxnLst>
    <dgm:cxn modelId="{BD6C611C-6FEF-3D4E-9B7E-A0FF212EFCC9}" type="presOf" srcId="{9C070B7E-168D-4224-9755-5A22585EB138}" destId="{07C05C4E-1934-4154-ACF3-4A6BBD5C4EBB}" srcOrd="0" destOrd="0" presId="urn:microsoft.com/office/officeart/2018/2/layout/IconVerticalSolidList"/>
    <dgm:cxn modelId="{8D269B2E-B257-B243-AD53-4C002904CB29}" type="presOf" srcId="{F11EF4F5-0EB7-4E2C-A7C0-FCB8156361D1}" destId="{C9C0AEA5-7774-4B32-A0FB-48C9EE508847}" srcOrd="0" destOrd="0" presId="urn:microsoft.com/office/officeart/2018/2/layout/IconVerticalSolidList"/>
    <dgm:cxn modelId="{37F42E31-0229-4859-94D6-19659BC482B6}" srcId="{8E7A7F9E-8941-4931-BB63-7965FAE366BD}" destId="{70120BAA-F566-4E22-89C3-25B2C229E0BB}" srcOrd="0" destOrd="0" parTransId="{BBE30635-D303-4E1F-8E23-B71A621B613A}" sibTransId="{A3DD81FD-D3CF-4FF7-BCA2-8FFBDA33D66D}"/>
    <dgm:cxn modelId="{9A707241-0953-46E4-8D75-683B7ABFBBCA}" srcId="{F11EF4F5-0EB7-4E2C-A7C0-FCB8156361D1}" destId="{A863892B-0B10-4C37-9ED0-A56FA1A8B861}" srcOrd="3" destOrd="0" parTransId="{68378A86-0BF2-4AC1-81CC-FACF2940145F}" sibTransId="{96CC1975-44CF-49D7-81CA-EF3EDEFA5956}"/>
    <dgm:cxn modelId="{3B79624F-2E99-A74E-9CF9-5BB66B154A16}" type="presOf" srcId="{8E7A7F9E-8941-4931-BB63-7965FAE366BD}" destId="{3C6D1CC7-D4B7-4764-AB51-308D8A150674}" srcOrd="0" destOrd="0" presId="urn:microsoft.com/office/officeart/2018/2/layout/IconVerticalSolidList"/>
    <dgm:cxn modelId="{EACD5165-816F-B247-9D8B-D85BDB177F85}" type="presOf" srcId="{1AF46B4F-A813-4A9A-8278-F675A0C34B73}" destId="{ADF53673-43C1-4EF6-9CD5-5C5A9533A9E6}" srcOrd="0" destOrd="0" presId="urn:microsoft.com/office/officeart/2018/2/layout/IconVerticalSolidList"/>
    <dgm:cxn modelId="{C9B11A68-A50B-DA4C-945D-95FE20B6DE24}" type="presOf" srcId="{B01E3DA9-CF11-4712-8CD5-436F1DC73D4A}" destId="{AB7A8522-0450-4A1C-934E-F3AE86964A9D}" srcOrd="0" destOrd="1" presId="urn:microsoft.com/office/officeart/2018/2/layout/IconVerticalSolidList"/>
    <dgm:cxn modelId="{6191BA68-789E-456D-901D-F3E2725D728B}" srcId="{1AF46B4F-A813-4A9A-8278-F675A0C34B73}" destId="{914F4D96-4D4B-4349-B520-DC4E0D1BEB3E}" srcOrd="0" destOrd="0" parTransId="{40889072-2BE3-4216-8CB6-1DD4544986C8}" sibTransId="{B436E51C-D365-48CE-84F7-04F255F2E32B}"/>
    <dgm:cxn modelId="{1D517D73-E632-9D45-BB83-20CB29B50F3F}" type="presOf" srcId="{0E9BBA37-EAD8-48E7-AD02-2F64DA7C4384}" destId="{6A5B6173-A18F-4ED3-8D69-511E673921BE}" srcOrd="0" destOrd="1" presId="urn:microsoft.com/office/officeart/2018/2/layout/IconVerticalSolidList"/>
    <dgm:cxn modelId="{C5DE7887-FD4C-8946-8110-68598447E526}" type="presOf" srcId="{D203B601-E91A-4EE8-9372-7D1EA9B8637E}" destId="{575D22E6-A353-477E-8CAA-1DD0427DA0E7}" srcOrd="0" destOrd="1" presId="urn:microsoft.com/office/officeart/2018/2/layout/IconVerticalSolidList"/>
    <dgm:cxn modelId="{B678ED88-D47C-441B-AA35-E06061A527F0}" srcId="{A863892B-0B10-4C37-9ED0-A56FA1A8B861}" destId="{ACBE8389-3213-4163-8E8C-5155C1A2E6AA}" srcOrd="0" destOrd="0" parTransId="{F23DB4C0-945F-453A-B9C4-B1321BCA1FDE}" sibTransId="{4AE1E207-8879-4AE2-9BE4-7F2B860DDF1D}"/>
    <dgm:cxn modelId="{7A51598F-672B-4418-9AED-E1F3683EA260}" srcId="{F11EF4F5-0EB7-4E2C-A7C0-FCB8156361D1}" destId="{9C070B7E-168D-4224-9755-5A22585EB138}" srcOrd="0" destOrd="0" parTransId="{651C8DD2-10E4-4DCF-B47F-8C365D852B51}" sibTransId="{18D202BF-F326-436B-9ADE-85F6B68D8537}"/>
    <dgm:cxn modelId="{BAA7718F-285F-264F-BD5A-656C65E4601E}" type="presOf" srcId="{36E76F15-94FC-46BC-B3B9-E6DFC28E271B}" destId="{575D22E6-A353-477E-8CAA-1DD0427DA0E7}" srcOrd="0" destOrd="0" presId="urn:microsoft.com/office/officeart/2018/2/layout/IconVerticalSolidList"/>
    <dgm:cxn modelId="{3C0E0690-405F-6046-98F8-777E1909B886}" type="presOf" srcId="{DD88DFCF-63EE-471D-887A-BAA6E844F3CB}" destId="{14778545-E6B4-4097-9F1B-F1E454A44C73}" srcOrd="0" destOrd="2" presId="urn:microsoft.com/office/officeart/2018/2/layout/IconVerticalSolidList"/>
    <dgm:cxn modelId="{A0894C96-F652-420E-9A58-290720371327}" srcId="{F11EF4F5-0EB7-4E2C-A7C0-FCB8156361D1}" destId="{1AF46B4F-A813-4A9A-8278-F675A0C34B73}" srcOrd="1" destOrd="0" parTransId="{3ED5D83A-BED1-4556-9902-EEB9A5F459D1}" sibTransId="{87BCDB7D-9D0D-410D-B46F-86036F70781F}"/>
    <dgm:cxn modelId="{8C652BA8-6FEF-BC46-B627-B73AA9E46E3D}" type="presOf" srcId="{A863892B-0B10-4C37-9ED0-A56FA1A8B861}" destId="{892751B5-631C-4660-B03D-B6C045510B9F}" srcOrd="0" destOrd="0" presId="urn:microsoft.com/office/officeart/2018/2/layout/IconVerticalSolidList"/>
    <dgm:cxn modelId="{84FE76B5-E6D7-9B41-8909-C07F14AB2ABC}" type="presOf" srcId="{ACBE8389-3213-4163-8E8C-5155C1A2E6AA}" destId="{6A5B6173-A18F-4ED3-8D69-511E673921BE}" srcOrd="0" destOrd="0" presId="urn:microsoft.com/office/officeart/2018/2/layout/IconVerticalSolidList"/>
    <dgm:cxn modelId="{D75196B5-338B-42B8-96A5-38340E69A480}" srcId="{8E7A7F9E-8941-4931-BB63-7965FAE366BD}" destId="{B01E3DA9-CF11-4712-8CD5-436F1DC73D4A}" srcOrd="1" destOrd="0" parTransId="{65815679-9E57-4BEA-824B-FA6ED782A380}" sibTransId="{15488E44-7102-4F11-A2EE-58123B79247B}"/>
    <dgm:cxn modelId="{8CEC03B8-AFD3-4D2C-8407-8241936BABB5}" srcId="{F11EF4F5-0EB7-4E2C-A7C0-FCB8156361D1}" destId="{8E7A7F9E-8941-4931-BB63-7965FAE366BD}" srcOrd="2" destOrd="0" parTransId="{EA477C5A-4F15-4962-BCF5-FF4FE6AEA3B7}" sibTransId="{C638435A-975A-41AD-8B1A-16EEF0B999EE}"/>
    <dgm:cxn modelId="{F3843BBC-3112-42B8-995D-9122A02780A5}" srcId="{A863892B-0B10-4C37-9ED0-A56FA1A8B861}" destId="{0E9BBA37-EAD8-48E7-AD02-2F64DA7C4384}" srcOrd="1" destOrd="0" parTransId="{4022BDAE-2F11-4C6A-9AB2-BE81947958CB}" sibTransId="{2A80CFFE-5B29-46AF-A578-C64C413672BB}"/>
    <dgm:cxn modelId="{6B617CBC-5EA4-E147-AC62-60C0A5D24FB9}" type="presOf" srcId="{70120BAA-F566-4E22-89C3-25B2C229E0BB}" destId="{AB7A8522-0450-4A1C-934E-F3AE86964A9D}" srcOrd="0" destOrd="0" presId="urn:microsoft.com/office/officeart/2018/2/layout/IconVerticalSolidList"/>
    <dgm:cxn modelId="{9035C6BE-D80D-7E4A-9240-43B4DDAFE9B1}" type="presOf" srcId="{506EF121-708F-4B66-A5D8-2828B470BEF6}" destId="{6A5B6173-A18F-4ED3-8D69-511E673921BE}" srcOrd="0" destOrd="2" presId="urn:microsoft.com/office/officeart/2018/2/layout/IconVerticalSolidList"/>
    <dgm:cxn modelId="{0B57F4C2-F1BB-7B4A-BB81-3C1D66FA8F81}" type="presOf" srcId="{914F4D96-4D4B-4349-B520-DC4E0D1BEB3E}" destId="{14778545-E6B4-4097-9F1B-F1E454A44C73}" srcOrd="0" destOrd="0" presId="urn:microsoft.com/office/officeart/2018/2/layout/IconVerticalSolidList"/>
    <dgm:cxn modelId="{A3C8B2E0-0578-4EC2-947A-C11C972EC374}" srcId="{9C070B7E-168D-4224-9755-5A22585EB138}" destId="{D203B601-E91A-4EE8-9372-7D1EA9B8637E}" srcOrd="1" destOrd="0" parTransId="{C6259A9A-72B2-4143-B33A-61324541E8B3}" sibTransId="{DCA4E6BB-AFA1-4230-9ED4-B56499882E73}"/>
    <dgm:cxn modelId="{E11630E2-554E-4244-A78E-22E83AA633CB}" srcId="{1AF46B4F-A813-4A9A-8278-F675A0C34B73}" destId="{DD88DFCF-63EE-471D-887A-BAA6E844F3CB}" srcOrd="2" destOrd="0" parTransId="{B7ED0289-C715-47EE-8C93-44CA747CB07E}" sibTransId="{C1E48F70-8E12-47E5-A76C-8A16849C5B85}"/>
    <dgm:cxn modelId="{7D7204EF-4421-47F9-9E2E-404589A43FDB}" srcId="{1AF46B4F-A813-4A9A-8278-F675A0C34B73}" destId="{5A53DF21-48DF-4EC5-819C-805C0AEF0722}" srcOrd="1" destOrd="0" parTransId="{0AF9AB30-B502-4C82-B7DD-2130573A3BB8}" sibTransId="{FE0E775D-1555-464F-8E71-B4576C89E93B}"/>
    <dgm:cxn modelId="{F9A618F3-1C72-9840-99E6-21D630FDFD0B}" type="presOf" srcId="{5A53DF21-48DF-4EC5-819C-805C0AEF0722}" destId="{14778545-E6B4-4097-9F1B-F1E454A44C73}" srcOrd="0" destOrd="1" presId="urn:microsoft.com/office/officeart/2018/2/layout/IconVerticalSolidList"/>
    <dgm:cxn modelId="{3B7D2BFF-BB18-44FA-8568-E5BDA73877CE}" srcId="{9C070B7E-168D-4224-9755-5A22585EB138}" destId="{36E76F15-94FC-46BC-B3B9-E6DFC28E271B}" srcOrd="0" destOrd="0" parTransId="{ED0A0467-7DA3-49B4-B605-962170A3CAAF}" sibTransId="{3A47B4FA-727E-4936-8779-97C1F8917F66}"/>
    <dgm:cxn modelId="{8D4F76FF-36EC-46B5-B735-3BBB46CF7392}" srcId="{A863892B-0B10-4C37-9ED0-A56FA1A8B861}" destId="{506EF121-708F-4B66-A5D8-2828B470BEF6}" srcOrd="2" destOrd="0" parTransId="{C52FAC88-AA46-4F7A-89EF-D7FBD19CE68C}" sibTransId="{F42EA56B-DC25-440F-9D8D-D2DBAE4E2D1C}"/>
    <dgm:cxn modelId="{3E7E2CE5-64A8-9243-A27F-F9091AA8FCC9}" type="presParOf" srcId="{C9C0AEA5-7774-4B32-A0FB-48C9EE508847}" destId="{732FB13E-3B96-4102-A5AB-F70613A30A85}" srcOrd="0" destOrd="0" presId="urn:microsoft.com/office/officeart/2018/2/layout/IconVerticalSolidList"/>
    <dgm:cxn modelId="{B94E6595-9F7B-D34B-A4D2-76FC497DE576}" type="presParOf" srcId="{732FB13E-3B96-4102-A5AB-F70613A30A85}" destId="{2BD6348D-27A7-42EB-BE6C-87E02A1282C6}" srcOrd="0" destOrd="0" presId="urn:microsoft.com/office/officeart/2018/2/layout/IconVerticalSolidList"/>
    <dgm:cxn modelId="{937DCBDE-0F35-1448-B9FD-78593EC5A10E}" type="presParOf" srcId="{732FB13E-3B96-4102-A5AB-F70613A30A85}" destId="{D4C34D8B-CAB3-4CEB-8EFB-CCC7EBFCAAC3}" srcOrd="1" destOrd="0" presId="urn:microsoft.com/office/officeart/2018/2/layout/IconVerticalSolidList"/>
    <dgm:cxn modelId="{E532A26F-E282-9742-BE18-B8AFD5AC346B}" type="presParOf" srcId="{732FB13E-3B96-4102-A5AB-F70613A30A85}" destId="{36D6D608-A6CD-4D83-9230-C1604B3F1E5B}" srcOrd="2" destOrd="0" presId="urn:microsoft.com/office/officeart/2018/2/layout/IconVerticalSolidList"/>
    <dgm:cxn modelId="{E4E21BC3-9364-A341-9A81-C7110A40632E}" type="presParOf" srcId="{732FB13E-3B96-4102-A5AB-F70613A30A85}" destId="{07C05C4E-1934-4154-ACF3-4A6BBD5C4EBB}" srcOrd="3" destOrd="0" presId="urn:microsoft.com/office/officeart/2018/2/layout/IconVerticalSolidList"/>
    <dgm:cxn modelId="{DEE27C78-72DA-F641-9FD1-42288FBE2EE0}" type="presParOf" srcId="{732FB13E-3B96-4102-A5AB-F70613A30A85}" destId="{575D22E6-A353-477E-8CAA-1DD0427DA0E7}" srcOrd="4" destOrd="0" presId="urn:microsoft.com/office/officeart/2018/2/layout/IconVerticalSolidList"/>
    <dgm:cxn modelId="{41DFF2ED-AC4C-BA40-993E-AEF517BE61E4}" type="presParOf" srcId="{C9C0AEA5-7774-4B32-A0FB-48C9EE508847}" destId="{0D17901C-4C24-419D-9A1E-1D2D849CA935}" srcOrd="1" destOrd="0" presId="urn:microsoft.com/office/officeart/2018/2/layout/IconVerticalSolidList"/>
    <dgm:cxn modelId="{BDA15051-7CB8-8946-A439-CC0F208D7349}" type="presParOf" srcId="{C9C0AEA5-7774-4B32-A0FB-48C9EE508847}" destId="{D4CAE324-C9BB-41BA-BA1A-92543538F871}" srcOrd="2" destOrd="0" presId="urn:microsoft.com/office/officeart/2018/2/layout/IconVerticalSolidList"/>
    <dgm:cxn modelId="{C7441544-4211-9A42-A45C-15701D768A3B}" type="presParOf" srcId="{D4CAE324-C9BB-41BA-BA1A-92543538F871}" destId="{7EBD5E8C-E607-4100-8B42-DB0EBBD8C007}" srcOrd="0" destOrd="0" presId="urn:microsoft.com/office/officeart/2018/2/layout/IconVerticalSolidList"/>
    <dgm:cxn modelId="{8E381638-2905-BC4C-98E9-06278AB10BE1}" type="presParOf" srcId="{D4CAE324-C9BB-41BA-BA1A-92543538F871}" destId="{CE8557D7-D045-4F73-B61A-942ACEC2B9DA}" srcOrd="1" destOrd="0" presId="urn:microsoft.com/office/officeart/2018/2/layout/IconVerticalSolidList"/>
    <dgm:cxn modelId="{F9E55303-3E8A-F740-930A-40AF12E598B9}" type="presParOf" srcId="{D4CAE324-C9BB-41BA-BA1A-92543538F871}" destId="{8146F550-D04C-47DA-975A-49299E9D0A92}" srcOrd="2" destOrd="0" presId="urn:microsoft.com/office/officeart/2018/2/layout/IconVerticalSolidList"/>
    <dgm:cxn modelId="{6CFC55AC-BCCC-B947-92EF-F6F373EB24C2}" type="presParOf" srcId="{D4CAE324-C9BB-41BA-BA1A-92543538F871}" destId="{ADF53673-43C1-4EF6-9CD5-5C5A9533A9E6}" srcOrd="3" destOrd="0" presId="urn:microsoft.com/office/officeart/2018/2/layout/IconVerticalSolidList"/>
    <dgm:cxn modelId="{645A4954-903F-8E4E-AB38-5B6D659E7E84}" type="presParOf" srcId="{D4CAE324-C9BB-41BA-BA1A-92543538F871}" destId="{14778545-E6B4-4097-9F1B-F1E454A44C73}" srcOrd="4" destOrd="0" presId="urn:microsoft.com/office/officeart/2018/2/layout/IconVerticalSolidList"/>
    <dgm:cxn modelId="{B147AE58-D10F-DD44-8882-30C8442A4763}" type="presParOf" srcId="{C9C0AEA5-7774-4B32-A0FB-48C9EE508847}" destId="{C8EF28C6-0F30-43DE-AA62-B9BCC28030FC}" srcOrd="3" destOrd="0" presId="urn:microsoft.com/office/officeart/2018/2/layout/IconVerticalSolidList"/>
    <dgm:cxn modelId="{81BFA1BF-58F8-AA44-B92F-175C6BF8387A}" type="presParOf" srcId="{C9C0AEA5-7774-4B32-A0FB-48C9EE508847}" destId="{8BCA8184-CA49-4245-A5EE-E2436E128A56}" srcOrd="4" destOrd="0" presId="urn:microsoft.com/office/officeart/2018/2/layout/IconVerticalSolidList"/>
    <dgm:cxn modelId="{8737A93F-4D19-B742-BE24-03B828397721}" type="presParOf" srcId="{8BCA8184-CA49-4245-A5EE-E2436E128A56}" destId="{C5DC510F-405D-4423-BEA0-6814EB093ED5}" srcOrd="0" destOrd="0" presId="urn:microsoft.com/office/officeart/2018/2/layout/IconVerticalSolidList"/>
    <dgm:cxn modelId="{D02664F1-A3C7-EA4A-A646-63B3F658D3FD}" type="presParOf" srcId="{8BCA8184-CA49-4245-A5EE-E2436E128A56}" destId="{7FA4CA30-9796-4EEE-BD1A-F44ED31CCBA4}" srcOrd="1" destOrd="0" presId="urn:microsoft.com/office/officeart/2018/2/layout/IconVerticalSolidList"/>
    <dgm:cxn modelId="{A3009683-CA8D-954B-A6CF-6B83C7551099}" type="presParOf" srcId="{8BCA8184-CA49-4245-A5EE-E2436E128A56}" destId="{8001EC5F-B71C-4481-BB00-B50186E2D1E7}" srcOrd="2" destOrd="0" presId="urn:microsoft.com/office/officeart/2018/2/layout/IconVerticalSolidList"/>
    <dgm:cxn modelId="{8A90E130-ED87-9442-9D05-E865CB5FF6DA}" type="presParOf" srcId="{8BCA8184-CA49-4245-A5EE-E2436E128A56}" destId="{3C6D1CC7-D4B7-4764-AB51-308D8A150674}" srcOrd="3" destOrd="0" presId="urn:microsoft.com/office/officeart/2018/2/layout/IconVerticalSolidList"/>
    <dgm:cxn modelId="{3F8223F7-754C-C646-B71F-A5D7C8068597}" type="presParOf" srcId="{8BCA8184-CA49-4245-A5EE-E2436E128A56}" destId="{AB7A8522-0450-4A1C-934E-F3AE86964A9D}" srcOrd="4" destOrd="0" presId="urn:microsoft.com/office/officeart/2018/2/layout/IconVerticalSolidList"/>
    <dgm:cxn modelId="{C1FC7ECC-3A45-854A-81D6-F72F2410B6F8}" type="presParOf" srcId="{C9C0AEA5-7774-4B32-A0FB-48C9EE508847}" destId="{17633045-3D04-491F-89A7-06D9415FEA02}" srcOrd="5" destOrd="0" presId="urn:microsoft.com/office/officeart/2018/2/layout/IconVerticalSolidList"/>
    <dgm:cxn modelId="{809CA8A0-F40F-9D4A-A87F-45CA06DC9B80}" type="presParOf" srcId="{C9C0AEA5-7774-4B32-A0FB-48C9EE508847}" destId="{42A5FF25-EFB3-4DEF-9919-DEC97D289E17}" srcOrd="6" destOrd="0" presId="urn:microsoft.com/office/officeart/2018/2/layout/IconVerticalSolidList"/>
    <dgm:cxn modelId="{C87EC448-0E8E-1845-BA2A-7EE3F537F836}" type="presParOf" srcId="{42A5FF25-EFB3-4DEF-9919-DEC97D289E17}" destId="{ABF2F38F-6A21-4024-B879-16A2AD421D1E}" srcOrd="0" destOrd="0" presId="urn:microsoft.com/office/officeart/2018/2/layout/IconVerticalSolidList"/>
    <dgm:cxn modelId="{865539E1-E7E8-774F-8EBE-68836897E6FE}" type="presParOf" srcId="{42A5FF25-EFB3-4DEF-9919-DEC97D289E17}" destId="{0A51CF41-F51B-4909-89A0-105CF663DA25}" srcOrd="1" destOrd="0" presId="urn:microsoft.com/office/officeart/2018/2/layout/IconVerticalSolidList"/>
    <dgm:cxn modelId="{339C142C-D0DE-084F-8CB1-E0618AE1C67C}" type="presParOf" srcId="{42A5FF25-EFB3-4DEF-9919-DEC97D289E17}" destId="{293171AB-12A7-4712-BF10-4586C819BDD4}" srcOrd="2" destOrd="0" presId="urn:microsoft.com/office/officeart/2018/2/layout/IconVerticalSolidList"/>
    <dgm:cxn modelId="{33E5A8E7-E051-9746-BAAC-389E7CB991AD}" type="presParOf" srcId="{42A5FF25-EFB3-4DEF-9919-DEC97D289E17}" destId="{892751B5-631C-4660-B03D-B6C045510B9F}" srcOrd="3" destOrd="0" presId="urn:microsoft.com/office/officeart/2018/2/layout/IconVerticalSolidList"/>
    <dgm:cxn modelId="{04EE7728-92B6-7B44-8199-DFA1B7E6671B}" type="presParOf" srcId="{42A5FF25-EFB3-4DEF-9919-DEC97D289E17}" destId="{6A5B6173-A18F-4ED3-8D69-511E673921B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6348D-27A7-42EB-BE6C-87E02A1282C6}">
      <dsp:nvSpPr>
        <dsp:cNvPr id="0" name=""/>
        <dsp:cNvSpPr/>
      </dsp:nvSpPr>
      <dsp:spPr>
        <a:xfrm>
          <a:off x="0" y="2468"/>
          <a:ext cx="11127317" cy="6972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34D8B-CAB3-4CEB-8EFB-CCC7EBFCAAC3}">
      <dsp:nvSpPr>
        <dsp:cNvPr id="0" name=""/>
        <dsp:cNvSpPr/>
      </dsp:nvSpPr>
      <dsp:spPr>
        <a:xfrm>
          <a:off x="210914" y="159346"/>
          <a:ext cx="383480" cy="383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05C4E-1934-4154-ACF3-4A6BBD5C4EBB}">
      <dsp:nvSpPr>
        <dsp:cNvPr id="0" name=""/>
        <dsp:cNvSpPr/>
      </dsp:nvSpPr>
      <dsp:spPr>
        <a:xfrm>
          <a:off x="805308" y="2468"/>
          <a:ext cx="5007292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Build projection</a:t>
          </a:r>
        </a:p>
      </dsp:txBody>
      <dsp:txXfrm>
        <a:off x="805308" y="2468"/>
        <a:ext cx="5007292" cy="697237"/>
      </dsp:txXfrm>
    </dsp:sp>
    <dsp:sp modelId="{575D22E6-A353-477E-8CAA-1DD0427DA0E7}">
      <dsp:nvSpPr>
        <dsp:cNvPr id="0" name=""/>
        <dsp:cNvSpPr/>
      </dsp:nvSpPr>
      <dsp:spPr>
        <a:xfrm>
          <a:off x="5812601" y="2468"/>
          <a:ext cx="5313928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Based on po_ctb date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Using C_UNSTAGED_DOLLARS</a:t>
          </a:r>
        </a:p>
      </dsp:txBody>
      <dsp:txXfrm>
        <a:off x="5812601" y="2468"/>
        <a:ext cx="5313928" cy="697237"/>
      </dsp:txXfrm>
    </dsp:sp>
    <dsp:sp modelId="{7EBD5E8C-E607-4100-8B42-DB0EBBD8C007}">
      <dsp:nvSpPr>
        <dsp:cNvPr id="0" name=""/>
        <dsp:cNvSpPr/>
      </dsp:nvSpPr>
      <dsp:spPr>
        <a:xfrm>
          <a:off x="0" y="874014"/>
          <a:ext cx="11127317" cy="9974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557D7-D045-4F73-B61A-942ACEC2B9DA}">
      <dsp:nvSpPr>
        <dsp:cNvPr id="0" name=""/>
        <dsp:cNvSpPr/>
      </dsp:nvSpPr>
      <dsp:spPr>
        <a:xfrm>
          <a:off x="210914" y="1180994"/>
          <a:ext cx="383480" cy="383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53673-43C1-4EF6-9CD5-5C5A9533A9E6}">
      <dsp:nvSpPr>
        <dsp:cNvPr id="0" name=""/>
        <dsp:cNvSpPr/>
      </dsp:nvSpPr>
      <dsp:spPr>
        <a:xfrm>
          <a:off x="805308" y="1024115"/>
          <a:ext cx="5007292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Order status summary</a:t>
          </a:r>
        </a:p>
      </dsp:txBody>
      <dsp:txXfrm>
        <a:off x="805308" y="1024115"/>
        <a:ext cx="5007292" cy="697237"/>
      </dsp:txXfrm>
    </dsp:sp>
    <dsp:sp modelId="{14778545-E6B4-4097-9F1B-F1E454A44C73}">
      <dsp:nvSpPr>
        <dsp:cNvPr id="0" name=""/>
        <dsp:cNvSpPr/>
      </dsp:nvSpPr>
      <dsp:spPr>
        <a:xfrm>
          <a:off x="5812601" y="1024115"/>
          <a:ext cx="5313928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Based on ss_updated_status generated from ss_ctb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Based on current FCD date (unscheduled orders will not show up in the summary)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Using C_UNSTAGED_DOLLARS</a:t>
          </a:r>
        </a:p>
      </dsp:txBody>
      <dsp:txXfrm>
        <a:off x="5812601" y="1024115"/>
        <a:ext cx="5313928" cy="697237"/>
      </dsp:txXfrm>
    </dsp:sp>
    <dsp:sp modelId="{C5DC510F-405D-4423-BEA0-6814EB093ED5}">
      <dsp:nvSpPr>
        <dsp:cNvPr id="0" name=""/>
        <dsp:cNvSpPr/>
      </dsp:nvSpPr>
      <dsp:spPr>
        <a:xfrm>
          <a:off x="0" y="2045763"/>
          <a:ext cx="11127317" cy="6972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4CA30-9796-4EEE-BD1A-F44ED31CCBA4}">
      <dsp:nvSpPr>
        <dsp:cNvPr id="0" name=""/>
        <dsp:cNvSpPr/>
      </dsp:nvSpPr>
      <dsp:spPr>
        <a:xfrm>
          <a:off x="210914" y="2202641"/>
          <a:ext cx="383480" cy="383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D1CC7-D4B7-4764-AB51-308D8A150674}">
      <dsp:nvSpPr>
        <dsp:cNvPr id="0" name=""/>
        <dsp:cNvSpPr/>
      </dsp:nvSpPr>
      <dsp:spPr>
        <a:xfrm>
          <a:off x="805308" y="2045763"/>
          <a:ext cx="5007292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RISO status summary</a:t>
          </a:r>
        </a:p>
      </dsp:txBody>
      <dsp:txXfrm>
        <a:off x="805308" y="2045763"/>
        <a:ext cx="5007292" cy="697237"/>
      </dsp:txXfrm>
    </dsp:sp>
    <dsp:sp modelId="{AB7A8522-0450-4A1C-934E-F3AE86964A9D}">
      <dsp:nvSpPr>
        <dsp:cNvPr id="0" name=""/>
        <dsp:cNvSpPr/>
      </dsp:nvSpPr>
      <dsp:spPr>
        <a:xfrm>
          <a:off x="5812601" y="2045763"/>
          <a:ext cx="5313928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Based on RISO(as is) and RISO(to be)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Using ss_unstg_rev</a:t>
          </a:r>
        </a:p>
      </dsp:txBody>
      <dsp:txXfrm>
        <a:off x="5812601" y="2045763"/>
        <a:ext cx="5313928" cy="697237"/>
      </dsp:txXfrm>
    </dsp:sp>
    <dsp:sp modelId="{ABF2F38F-6A21-4024-B879-16A2AD421D1E}">
      <dsp:nvSpPr>
        <dsp:cNvPr id="0" name=""/>
        <dsp:cNvSpPr/>
      </dsp:nvSpPr>
      <dsp:spPr>
        <a:xfrm>
          <a:off x="0" y="2973503"/>
          <a:ext cx="11127317" cy="121423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1CF41-F51B-4909-89A0-105CF663DA25}">
      <dsp:nvSpPr>
        <dsp:cNvPr id="0" name=""/>
        <dsp:cNvSpPr/>
      </dsp:nvSpPr>
      <dsp:spPr>
        <a:xfrm>
          <a:off x="210914" y="3388878"/>
          <a:ext cx="383480" cy="383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751B5-631C-4660-B03D-B6C045510B9F}">
      <dsp:nvSpPr>
        <dsp:cNvPr id="0" name=""/>
        <dsp:cNvSpPr/>
      </dsp:nvSpPr>
      <dsp:spPr>
        <a:xfrm>
          <a:off x="805308" y="3232000"/>
          <a:ext cx="5007292" cy="69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Build impact summaries</a:t>
          </a:r>
        </a:p>
      </dsp:txBody>
      <dsp:txXfrm>
        <a:off x="805308" y="3232000"/>
        <a:ext cx="5007292" cy="697237"/>
      </dsp:txXfrm>
    </dsp:sp>
    <dsp:sp modelId="{6A5B6173-A18F-4ED3-8D69-511E673921BE}">
      <dsp:nvSpPr>
        <dsp:cNvPr id="0" name=""/>
        <dsp:cNvSpPr/>
      </dsp:nvSpPr>
      <dsp:spPr>
        <a:xfrm>
          <a:off x="5812601" y="2917309"/>
          <a:ext cx="5313928" cy="1326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91" tIns="73791" rIns="73791" bIns="7379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Based on tan_supply_ready_date instead of po_ctb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tan_supply_ready_date cut off is Thursday of of each cut off week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Have different cut offs: wk0 – current week, wk1/2/3…. And </a:t>
          </a:r>
          <a:r>
            <a:rPr lang="en-US" sz="1100" kern="1200" dirty="0" err="1"/>
            <a:t>qend</a:t>
          </a:r>
          <a:r>
            <a:rPr lang="en-US" sz="1100" kern="1200" dirty="0"/>
            <a:t> (backlog is based on “addressable” backlog based on specific week cutoff)</a:t>
          </a:r>
        </a:p>
      </dsp:txBody>
      <dsp:txXfrm>
        <a:off x="5812601" y="2917309"/>
        <a:ext cx="5313928" cy="1326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D18FD-D4CC-4163-B221-261AEA246121}" type="datetimeFigureOut">
              <a:rPr lang="en-US" smtClean="0"/>
              <a:t>4/20/21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07F3B-EBF1-45E8-ACC2-8D303F6E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7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431800"/>
            <a:ext cx="1255184" cy="78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25995" y="5057598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867" b="0" i="0">
                <a:solidFill>
                  <a:srgbClr val="FFFFFE"/>
                </a:solidFill>
                <a:latin typeface="+mn-lt"/>
                <a:cs typeface="CiscoSans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625995" y="5377594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867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625995" y="569759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867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723" y="4281951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aseline="0">
                <a:solidFill>
                  <a:srgbClr val="FFFFFE"/>
                </a:solidFill>
                <a:latin typeface="+mj-l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67687" y="3519969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933" b="0" i="0" spc="0" baseline="0">
                <a:solidFill>
                  <a:srgbClr val="FFFFFE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3295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554" y="4279401"/>
            <a:ext cx="6246489" cy="384175"/>
          </a:xfrm>
          <a:prstGeom prst="rect">
            <a:avLst/>
          </a:prstGeom>
        </p:spPr>
        <p:txBody>
          <a:bodyPr vert="horz" lIns="68574" tIns="34288" rIns="68574" bIns="34288" rtlCol="0">
            <a:noAutofit/>
          </a:bodyPr>
          <a:lstStyle>
            <a:lvl1pPr marL="0" indent="0" algn="l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4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01" y="3282703"/>
            <a:ext cx="6283409" cy="1022351"/>
          </a:xfrm>
        </p:spPr>
        <p:txBody>
          <a:bodyPr lIns="61715" tIns="34288" rIns="61715" bIns="34288" rtlCol="0" anchor="b">
            <a:noAutofit/>
          </a:bodyPr>
          <a:lstStyle>
            <a:lvl1pPr marL="0" indent="0" algn="l" defTabSz="914308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933" b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/>
          </p:nvPr>
        </p:nvSpPr>
        <p:spPr>
          <a:xfrm>
            <a:off x="7387175" y="1917701"/>
            <a:ext cx="3568700" cy="2889251"/>
          </a:xfrm>
          <a:prstGeom prst="rect">
            <a:avLst/>
          </a:prstGeom>
        </p:spPr>
        <p:txBody>
          <a:bodyPr lIns="91420" tIns="45710" rIns="91420" bIns="45710" anchor="ctr" anchorCtr="1"/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197713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gradFill rotWithShape="0">
          <a:gsLst>
            <a:gs pos="0">
              <a:schemeClr val="bg2"/>
            </a:gs>
            <a:gs pos="100000">
              <a:schemeClr val="accent1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509F5890-BE05-4D5D-AADF-DD6FDB4C472B}" type="slidenum">
              <a:rPr lang="en-US" sz="8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bg1">
                  <a:alpha val="6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© 2016</a:t>
            </a:r>
            <a:r>
              <a:rPr lang="en-US" sz="800" baseline="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 </a:t>
            </a: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 Cisco and/or its affiliates. All rights reserved.   Cisco Confidential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alphaModFix amt="6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52516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gue">
    <p:bg>
      <p:bgPr>
        <a:solidFill>
          <a:srgbClr val="393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/>
                </a:solidFill>
                <a:latin typeface="+mj-lt"/>
                <a:cs typeface="CiscoSans Thin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bg1">
                  <a:alpha val="6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alphaModFix amt="6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71595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4165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59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8" y="1797051"/>
            <a:ext cx="11127317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74561" indent="-298382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11385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8" y="1797051"/>
            <a:ext cx="11127317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76179" indent="0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None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389377" indent="0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None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768171" indent="0">
              <a:buClr>
                <a:schemeClr val="tx1"/>
              </a:buClr>
              <a:buSzPct val="80000"/>
              <a:buFont typeface="Arial"/>
              <a:buNone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986135" indent="0">
              <a:buClr>
                <a:schemeClr val="tx1"/>
              </a:buClr>
              <a:buSzPct val="80000"/>
              <a:buFont typeface="Arial"/>
              <a:buNone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218916" indent="0">
              <a:buClr>
                <a:schemeClr val="tx1"/>
              </a:buClr>
              <a:buSzPct val="80000"/>
              <a:buFont typeface="Arial"/>
              <a:buNone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308888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9547" y="1194135"/>
            <a:ext cx="11198319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76179" indent="0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None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389377" indent="0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None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768171" indent="0">
              <a:buClr>
                <a:schemeClr val="tx1"/>
              </a:buClr>
              <a:buSzPct val="80000"/>
              <a:buFont typeface="Arial"/>
              <a:buNone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986135" indent="0">
              <a:buClr>
                <a:schemeClr val="tx1"/>
              </a:buClr>
              <a:buSzPct val="80000"/>
              <a:buFont typeface="Arial"/>
              <a:buNone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218916" indent="0">
              <a:buClr>
                <a:schemeClr val="tx1"/>
              </a:buClr>
              <a:buSzPct val="80000"/>
              <a:buFont typeface="Arial"/>
              <a:buNone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501248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04852" y="1168479"/>
            <a:ext cx="11013016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3193" indent="-523187">
              <a:lnSpc>
                <a:spcPts val="592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Arial"/>
              <a:buChar char="•"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7258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16401" y="1797051"/>
            <a:ext cx="11036459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74561" indent="-298382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041048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9" y="1797051"/>
            <a:ext cx="5201497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086392" y="1797051"/>
            <a:ext cx="5624613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36195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87533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05" y="403341"/>
            <a:ext cx="4954660" cy="1101929"/>
          </a:xfrm>
          <a:prstGeom prst="rect">
            <a:avLst/>
          </a:prstGeom>
        </p:spPr>
        <p:txBody>
          <a:bodyPr lIns="61712" tIns="34286" rIns="61712" bIns="34286" rtlCol="0">
            <a:noAutofit/>
          </a:bodyPr>
          <a:lstStyle>
            <a:lvl1pPr algn="l" defTabSz="91427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267" b="0" i="0" kern="1200" spc="-100" baseline="0" dirty="0" smtClean="0">
                <a:solidFill>
                  <a:schemeClr val="tx2"/>
                </a:solidFill>
                <a:latin typeface="+mj-lt"/>
                <a:ea typeface="+mj-ea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6541286" y="403341"/>
            <a:ext cx="4954660" cy="110192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267" b="0" i="0" kern="1200" spc="-100" baseline="0" dirty="0">
                <a:solidFill>
                  <a:schemeClr val="tx2"/>
                </a:solidFill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3905" y="1797051"/>
            <a:ext cx="4954660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541286" y="1797051"/>
            <a:ext cx="4954660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29025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093633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049684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615952" y="304425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2"/>
          </p:nvPr>
        </p:nvSpPr>
        <p:spPr>
          <a:xfrm>
            <a:off x="4503638" y="303785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8473085" y="293972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5951" y="1601459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503637" y="1600428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7"/>
          </p:nvPr>
        </p:nvSpPr>
        <p:spPr>
          <a:xfrm>
            <a:off x="8473083" y="1600428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591869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760634" y="1773767"/>
            <a:ext cx="4950884" cy="41359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3" tIns="60947" rIns="121893" bIns="6094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864941" y="1975668"/>
            <a:ext cx="4501216" cy="221202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114288" indent="-114288" algn="l" defTabSz="91427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baseline="0" dirty="0" smtClean="0">
                <a:solidFill>
                  <a:schemeClr val="tx2"/>
                </a:solidFill>
                <a:latin typeface="+mn-lt"/>
                <a:ea typeface="+mn-ea"/>
                <a:cs typeface="CiscoSans ExtraLight"/>
              </a:defRPr>
            </a:lvl1pPr>
            <a:lvl2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6864942" y="4736592"/>
            <a:ext cx="4674993" cy="33832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>
              <a:buClr>
                <a:schemeClr val="tx2"/>
              </a:buClr>
              <a:buFontTx/>
              <a:buNone/>
              <a:defRPr sz="160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9" y="1797051"/>
            <a:ext cx="5201497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174021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293601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6133" b="0" i="1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89521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146800" y="812801"/>
            <a:ext cx="0" cy="5312833"/>
          </a:xfrm>
          <a:prstGeom prst="line">
            <a:avLst/>
          </a:prstGeom>
          <a:ln w="38100" cap="flat" cmpd="sng">
            <a:solidFill>
              <a:srgbClr val="004B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8351" y="1918747"/>
            <a:ext cx="5093797" cy="3020519"/>
          </a:xfrm>
        </p:spPr>
        <p:txBody>
          <a:bodyPr lIns="61715" tIns="34288" rIns="61715" bIns="34288" rtlCol="0">
            <a:noAutofit/>
          </a:bodyPr>
          <a:lstStyle>
            <a:lvl1pPr marL="0" indent="0" algn="l" defTabSz="914308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63360" y="872691"/>
            <a:ext cx="5154507" cy="5120640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FontTx/>
              <a:buNone/>
              <a:defRPr sz="2133" baseline="0">
                <a:solidFill>
                  <a:schemeClr val="tx2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381121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583688" y="1797051"/>
            <a:ext cx="11127317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21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1802399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583688" y="1799167"/>
            <a:ext cx="11127317" cy="354753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21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885676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Chart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583689" y="1799275"/>
            <a:ext cx="5342668" cy="4054364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None/>
              <a:defRPr sz="32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6279877" y="1799166"/>
            <a:ext cx="5431128" cy="4052529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944792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583689" y="1799139"/>
            <a:ext cx="5338660" cy="4054500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None/>
              <a:defRPr sz="32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277480" y="1799167"/>
            <a:ext cx="5433525" cy="4054944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399468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8113185" y="2163234"/>
            <a:ext cx="3092449" cy="3090333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63533" y="2163234"/>
            <a:ext cx="3092451" cy="30903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18118" y="2163234"/>
            <a:ext cx="3092449" cy="3090333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1036647" y="3733524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4581926" y="3730928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8131107" y="3730928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027767" y="285737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5603827" y="287041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9122480" y="285737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7375045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1032934" y="2163234"/>
            <a:ext cx="3075517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4563534" y="2163234"/>
            <a:ext cx="3075517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14" name="Oval 8"/>
          <p:cNvSpPr>
            <a:spLocks noChangeArrowheads="1"/>
          </p:cNvSpPr>
          <p:nvPr/>
        </p:nvSpPr>
        <p:spPr bwMode="auto">
          <a:xfrm>
            <a:off x="8117417" y="2163234"/>
            <a:ext cx="3073400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5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1033287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7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4563981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8116671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051730" y="5164185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4582424" y="5161589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8135114" y="5161589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206807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67480" y="3403400"/>
            <a:ext cx="931499" cy="931499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0" y="1902143"/>
            <a:ext cx="931499" cy="931499"/>
          </a:xfrm>
          <a:prstGeom prst="ellipse">
            <a:avLst/>
          </a:prstGeom>
          <a:noFill/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rgbClr val="049FD9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0" y="4870791"/>
            <a:ext cx="931499" cy="931499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820333" y="1910030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820333" y="34103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820333" y="48707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1" y="1900269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0" y="3388917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1" y="4877782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7879317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0" y="3403400"/>
            <a:ext cx="931499" cy="931499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0" y="1902143"/>
            <a:ext cx="931499" cy="93149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0" y="4870791"/>
            <a:ext cx="931499" cy="931499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820333" y="1910030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820333" y="34103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820333" y="48707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0" y="3403401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1" y="4868187"/>
            <a:ext cx="931499" cy="924508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767480" y="1902998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040732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1" y="4366109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56120771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1" y="4366109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14752553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2" y="4366109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886102" y="2644113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886101" y="1776925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886102" y="350828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681799" y="1784811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6681800" y="265110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6681800" y="350828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5886102" y="1775050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886102" y="264411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3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04" y="350567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36" name="Oval 35"/>
          <p:cNvSpPr/>
          <p:nvPr/>
        </p:nvSpPr>
        <p:spPr>
          <a:xfrm>
            <a:off x="5886104" y="4371130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3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6681801" y="437113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5886105" y="4368526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5886105" y="5233977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6681803" y="5233977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5886106" y="523137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5880275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solidFill>
            <a:schemeClr val="bg2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2" y="4366109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5886102" y="2644113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886101" y="1776925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886102" y="3508284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681799" y="1784811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6681800" y="265110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6681800" y="350828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5886102" y="1775050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886102" y="264411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04" y="350567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5886104" y="4371130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6681801" y="437113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5886105" y="4368526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5886105" y="5233977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6681803" y="5233977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5886106" y="523137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216616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5" y="6172201"/>
            <a:ext cx="977900" cy="48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4635530"/>
            <a:ext cx="10852149" cy="69420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10800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30394" indent="0">
              <a:lnSpc>
                <a:spcPts val="4907"/>
              </a:lnSpc>
              <a:spcBef>
                <a:spcPts val="0"/>
              </a:spcBef>
              <a:buNone/>
              <a:defRPr sz="3200" i="1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6270342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4" y="401383"/>
            <a:ext cx="11417563" cy="3389567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920155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5" y="6172201"/>
            <a:ext cx="977900" cy="48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0364695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62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E6ADCC75-5E05-4D7E-970D-6B4505B4F777}" type="slidenum">
              <a:rPr lang="en-US" sz="800">
                <a:solidFill>
                  <a:srgbClr val="FFFFFF">
                    <a:alpha val="60000"/>
                  </a:srgb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rgbClr val="FFFFFF">
                  <a:alpha val="60000"/>
                </a:srgb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2"/>
          </p:nvPr>
        </p:nvSpPr>
        <p:spPr bwMode="auto">
          <a:xfrm>
            <a:off x="666751" y="4622131"/>
            <a:ext cx="10852149" cy="69534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108000" tIns="0" rIns="91440" bIns="45720" numCol="1" anchor="b" anchorCtr="0" compatLnSpc="1">
            <a:prstTxWarp prst="textNoShape">
              <a:avLst/>
            </a:prstTxWarp>
            <a:spAutoFit/>
          </a:bodyPr>
          <a:lstStyle>
            <a:lvl1pPr marL="230394" indent="-239994">
              <a:lnSpc>
                <a:spcPts val="4907"/>
              </a:lnSpc>
              <a:spcBef>
                <a:spcPts val="0"/>
              </a:spcBef>
              <a:buNone/>
              <a:defRPr sz="4267" i="1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350439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08379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photo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3067" y="795867"/>
            <a:ext cx="7131051" cy="40047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3067" y="4794251"/>
            <a:ext cx="7128933" cy="996949"/>
          </a:xfrm>
          <a:prstGeom prst="rect">
            <a:avLst/>
          </a:prstGeom>
          <a:noFill/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2533651" y="795528"/>
            <a:ext cx="7105651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676767"/>
            </a:solidFill>
          </a:ln>
          <a:effectLst/>
        </p:spPr>
        <p:txBody>
          <a:bodyPr lIns="91424" tIns="45712" rIns="91424" bIns="45712" anchor="ctr" anchorCtr="0"/>
          <a:lstStyle>
            <a:lvl1pPr algn="ctr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54495" y="4873439"/>
            <a:ext cx="6765427" cy="838200"/>
          </a:xfrm>
        </p:spPr>
        <p:txBody>
          <a:bodyPr/>
          <a:lstStyle>
            <a:lvl1pPr>
              <a:defRPr sz="2667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9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hoto_top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2367" y="311151"/>
            <a:ext cx="4364567" cy="245956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733321" y="310896"/>
            <a:ext cx="4364736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676767"/>
            </a:solidFill>
          </a:ln>
          <a:effectLst/>
        </p:spPr>
        <p:txBody>
          <a:bodyPr vert="horz" lIns="68577" tIns="34289" rIns="68577" bIns="34289" rtlCol="0" anchor="ctr" anchorCtr="0">
            <a:normAutofit/>
          </a:bodyPr>
          <a:lstStyle>
            <a:lvl1pPr marL="0" indent="0" algn="ctr" defTabSz="914346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74581" y="3307591"/>
            <a:ext cx="8973153" cy="2152559"/>
          </a:xfrm>
        </p:spPr>
        <p:txBody>
          <a:bodyPr>
            <a:noAutofit/>
          </a:bodyPr>
          <a:lstStyle>
            <a:lvl1pPr marL="0" marR="0" indent="0" algn="l" defTabSz="914346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rait photo_right s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56917" y="728134"/>
            <a:ext cx="4840816" cy="51604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6656832" y="728979"/>
            <a:ext cx="4840224" cy="515975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2968AF"/>
            </a:solidFill>
          </a:ln>
          <a:effectLst/>
        </p:spPr>
        <p:txBody>
          <a:bodyPr lIns="91424" tIns="45712" rIns="91424" bIns="45712" anchor="ctr" anchorCtr="0"/>
          <a:lstStyle>
            <a:lvl1pPr algn="ctr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83559" y="728980"/>
            <a:ext cx="5799891" cy="1085313"/>
          </a:xfrm>
        </p:spPr>
        <p:txBody>
          <a:bodyPr wrap="none" anchor="t">
            <a:noAutofit/>
          </a:bodyPr>
          <a:lstStyle>
            <a:lvl1pPr>
              <a:lnSpc>
                <a:spcPct val="90000"/>
              </a:lnSpc>
              <a:defRPr sz="3333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4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891617" y="311152"/>
            <a:ext cx="4358216" cy="26606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6617" y="311152"/>
            <a:ext cx="4383616" cy="26606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06985" y="311151"/>
            <a:ext cx="2451100" cy="1308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6618" y="3028952"/>
            <a:ext cx="3363383" cy="34586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81967" y="3028952"/>
            <a:ext cx="5367867" cy="34586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306985" y="1682751"/>
            <a:ext cx="2451100" cy="344381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06985" y="5183717"/>
            <a:ext cx="2451100" cy="130386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4891994" y="311151"/>
            <a:ext cx="435714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baseline="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27771" y="311151"/>
            <a:ext cx="440266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9306444" y="311151"/>
            <a:ext cx="2451640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/>
          </p:nvPr>
        </p:nvSpPr>
        <p:spPr>
          <a:xfrm>
            <a:off x="427765" y="3028958"/>
            <a:ext cx="3383227" cy="345893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/>
          </p:nvPr>
        </p:nvSpPr>
        <p:spPr>
          <a:xfrm>
            <a:off x="3877779" y="3028958"/>
            <a:ext cx="5371355" cy="345893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/>
          </p:nvPr>
        </p:nvSpPr>
        <p:spPr>
          <a:xfrm>
            <a:off x="9306444" y="1676401"/>
            <a:ext cx="2451640" cy="344941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/>
          </p:nvPr>
        </p:nvSpPr>
        <p:spPr>
          <a:xfrm>
            <a:off x="9306444" y="5182964"/>
            <a:ext cx="2451640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1662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36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scre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edia Placeholder 39"/>
          <p:cNvSpPr>
            <a:spLocks noGrp="1"/>
          </p:cNvSpPr>
          <p:nvPr>
            <p:ph type="media" sz="quarter" idx="11"/>
          </p:nvPr>
        </p:nvSpPr>
        <p:spPr>
          <a:xfrm>
            <a:off x="704851" y="777240"/>
            <a:ext cx="10886575" cy="4425696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4" tIns="34288" rIns="68574" bIns="34288" rtlCol="0" anchor="ctr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67" kern="1200" baseline="0" smtClean="0">
                <a:solidFill>
                  <a:schemeClr val="lt1"/>
                </a:solidFill>
                <a:latin typeface="+mn-lt"/>
                <a:ea typeface="+mn-ea"/>
                <a:cs typeface="CiscoSans"/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02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dia Placeholder 20"/>
          <p:cNvSpPr>
            <a:spLocks noGrp="1"/>
          </p:cNvSpPr>
          <p:nvPr>
            <p:ph type="media" sz="quarter" idx="10"/>
          </p:nvPr>
        </p:nvSpPr>
        <p:spPr>
          <a:xfrm>
            <a:off x="2905785" y="778669"/>
            <a:ext cx="5899416" cy="4425696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4" tIns="34288" rIns="68574" bIns="34288" rtlCol="0" anchor="ctr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67" kern="1200">
                <a:solidFill>
                  <a:schemeClr val="lt1"/>
                </a:solidFill>
                <a:latin typeface="+mn-lt"/>
                <a:ea typeface="+mn-ea"/>
                <a:cs typeface="CiscoSans"/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1202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gradFill rotWithShape="1">
          <a:gsLst>
            <a:gs pos="0">
              <a:schemeClr val="bg2"/>
            </a:gs>
            <a:gs pos="100000">
              <a:schemeClr val="accent1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1" y="2194985"/>
            <a:ext cx="26543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008380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FF90-0E02-E14A-A4C7-E4606B8F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B08D-65DC-0E44-BDF6-67A31BD2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CE273-9E75-044D-9A5A-48BA71AB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6553-6956-B94D-A60F-15EE3B0C88C9}" type="datetimeFigureOut">
              <a:rPr lang="en-CN" smtClean="0"/>
              <a:t>2021/4/20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426AC-854A-1642-9A63-710FDC69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1FF6-24E4-694F-834D-8F421072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18FF1-25AE-2D4D-809A-19E3CE1B71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76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4200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800">
                <a:solidFill>
                  <a:srgbClr val="000000">
                    <a:alpha val="25000"/>
                  </a:srgb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rgbClr val="000000">
                  <a:alpha val="25000"/>
                </a:srgb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rgbClr val="000000">
                    <a:alpha val="25000"/>
                  </a:srgb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pic>
        <p:nvPicPr>
          <p:cNvPr id="1029" name="Picture 2"/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60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</p:sldLayoutIdLst>
  <p:transition spd="slow">
    <p:wipe/>
  </p:transition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4267" kern="1200" dirty="0">
          <a:solidFill>
            <a:schemeClr val="tx2"/>
          </a:solidFill>
          <a:latin typeface="+mj-lt"/>
          <a:ea typeface="ＭＳ Ｐゴシック" charset="0"/>
          <a:cs typeface="CiscoSans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ED2230-8FB4-B642-865E-AA5933AAD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995" y="2162832"/>
            <a:ext cx="11426745" cy="1429030"/>
          </a:xfrm>
        </p:spPr>
        <p:txBody>
          <a:bodyPr/>
          <a:lstStyle/>
          <a:p>
            <a:pPr algn="r"/>
            <a:r>
              <a:rPr lang="en-US" altLang="zh-CN" sz="4400" dirty="0"/>
              <a:t>Experimentation using full supply</a:t>
            </a:r>
            <a:br>
              <a:rPr lang="en-US" altLang="zh-CN" sz="3200" dirty="0"/>
            </a:br>
            <a:r>
              <a:rPr lang="en-US" altLang="zh-CN" sz="3200" dirty="0"/>
              <a:t>For CTB and material gating</a:t>
            </a:r>
            <a:endParaRPr lang="en-US" sz="3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101A60-49ED-274E-A349-8B2CAB2C06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N" dirty="0"/>
              <a:t>Apr 2020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A2C9C57-1DB2-7D4B-B841-036483BD3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Ken</a:t>
            </a:r>
          </a:p>
        </p:txBody>
      </p:sp>
    </p:spTree>
    <p:extLst>
      <p:ext uri="{BB962C8B-B14F-4D97-AF65-F5344CB8AC3E}">
        <p14:creationId xmlns:p14="http://schemas.microsoft.com/office/powerpoint/2010/main" val="135277693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Purpose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E54E9-7EC0-1E48-A894-E7D9D7011668}"/>
              </a:ext>
            </a:extLst>
          </p:cNvPr>
          <p:cNvSpPr txBox="1"/>
          <p:nvPr/>
        </p:nvSpPr>
        <p:spPr>
          <a:xfrm>
            <a:off x="1231106" y="2338390"/>
            <a:ext cx="97297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3600" dirty="0"/>
              <a:t>Experimenting to use</a:t>
            </a:r>
          </a:p>
          <a:p>
            <a:pPr algn="ctr"/>
            <a:r>
              <a:rPr lang="en-CN" sz="3600" b="1" dirty="0">
                <a:solidFill>
                  <a:srgbClr val="FFC080"/>
                </a:solidFill>
              </a:rPr>
              <a:t>Full Horizon</a:t>
            </a:r>
            <a:r>
              <a:rPr lang="en-CN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CN" sz="3600" u="sng" dirty="0">
                <a:solidFill>
                  <a:schemeClr val="tx1">
                    <a:lumMod val="50000"/>
                  </a:schemeClr>
                </a:solidFill>
              </a:rPr>
              <a:t>PCBA SCR</a:t>
            </a:r>
            <a:r>
              <a:rPr lang="en-CN" sz="3600" dirty="0">
                <a:solidFill>
                  <a:srgbClr val="FFC080"/>
                </a:solidFill>
              </a:rPr>
              <a:t> </a:t>
            </a:r>
          </a:p>
          <a:p>
            <a:pPr algn="ctr"/>
            <a:r>
              <a:rPr lang="en-CN" sz="3600" dirty="0">
                <a:solidFill>
                  <a:schemeClr val="tx1">
                    <a:lumMod val="50000"/>
                  </a:schemeClr>
                </a:solidFill>
              </a:rPr>
              <a:t>for </a:t>
            </a:r>
          </a:p>
          <a:p>
            <a:pPr algn="ctr"/>
            <a:r>
              <a:rPr lang="en-CN" sz="3600" b="1" dirty="0">
                <a:solidFill>
                  <a:srgbClr val="FFC080"/>
                </a:solidFill>
              </a:rPr>
              <a:t>E2E views</a:t>
            </a:r>
            <a:r>
              <a:rPr lang="en-CN" sz="3600" b="1" dirty="0">
                <a:solidFill>
                  <a:schemeClr val="bg2"/>
                </a:solidFill>
              </a:rPr>
              <a:t> </a:t>
            </a:r>
            <a:r>
              <a:rPr lang="en-CN" sz="3600" dirty="0">
                <a:solidFill>
                  <a:schemeClr val="tx1">
                    <a:lumMod val="50000"/>
                  </a:schemeClr>
                </a:solidFill>
              </a:rPr>
              <a:t>on </a:t>
            </a:r>
            <a:r>
              <a:rPr lang="en-CN" sz="3600" u="sng" dirty="0">
                <a:solidFill>
                  <a:schemeClr val="tx1">
                    <a:lumMod val="50000"/>
                  </a:schemeClr>
                </a:solidFill>
              </a:rPr>
              <a:t>Build projection</a:t>
            </a:r>
            <a:r>
              <a:rPr lang="en-CN" sz="3600" dirty="0">
                <a:solidFill>
                  <a:schemeClr val="tx1">
                    <a:lumMod val="50000"/>
                  </a:schemeClr>
                </a:solidFill>
              </a:rPr>
              <a:t> and </a:t>
            </a:r>
            <a:r>
              <a:rPr lang="en-CN" sz="3600" u="sng" dirty="0">
                <a:solidFill>
                  <a:schemeClr val="tx1">
                    <a:lumMod val="50000"/>
                  </a:schemeClr>
                </a:solidFill>
              </a:rPr>
              <a:t>Material impacts</a:t>
            </a:r>
            <a:r>
              <a:rPr lang="en-CN" sz="3600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en-CN" sz="3600" dirty="0"/>
          </a:p>
        </p:txBody>
      </p:sp>
    </p:spTree>
    <p:extLst>
      <p:ext uri="{BB962C8B-B14F-4D97-AF65-F5344CB8AC3E}">
        <p14:creationId xmlns:p14="http://schemas.microsoft.com/office/powerpoint/2010/main" val="419964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High Level Process and Outcome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3180CF-694D-B04C-91B8-C9F7E9A23FF1}"/>
              </a:ext>
            </a:extLst>
          </p:cNvPr>
          <p:cNvSpPr/>
          <p:nvPr/>
        </p:nvSpPr>
        <p:spPr>
          <a:xfrm>
            <a:off x="949652" y="3978680"/>
            <a:ext cx="1570831" cy="97578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</a:rPr>
              <a:t>Sort customer SS/PO into a “production” sequence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CE32DAD-7D41-6C4B-92A1-E8C3F6F3D900}"/>
              </a:ext>
            </a:extLst>
          </p:cNvPr>
          <p:cNvSpPr/>
          <p:nvPr/>
        </p:nvSpPr>
        <p:spPr>
          <a:xfrm>
            <a:off x="3327485" y="3978678"/>
            <a:ext cx="1570831" cy="97578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</a:rPr>
              <a:t>Allocate supply&amp;capacity to each PO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6F3C48-8F4A-B948-868E-1A8C7DDD4093}"/>
              </a:ext>
            </a:extLst>
          </p:cNvPr>
          <p:cNvSpPr/>
          <p:nvPr/>
        </p:nvSpPr>
        <p:spPr>
          <a:xfrm>
            <a:off x="5640270" y="3558622"/>
            <a:ext cx="2355069" cy="6756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</a:rPr>
              <a:t>CTB for each PO/SS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55590D-2A01-BE43-8F91-261F3A419BCB}"/>
              </a:ext>
            </a:extLst>
          </p:cNvPr>
          <p:cNvSpPr/>
          <p:nvPr/>
        </p:nvSpPr>
        <p:spPr>
          <a:xfrm>
            <a:off x="5640270" y="4616618"/>
            <a:ext cx="2355069" cy="6756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</a:rPr>
              <a:t>Material shortage </a:t>
            </a:r>
          </a:p>
          <a:p>
            <a:pPr algn="ctr"/>
            <a:r>
              <a:rPr lang="en-CN" sz="1400" dirty="0">
                <a:solidFill>
                  <a:schemeClr val="tx1"/>
                </a:solidFill>
              </a:rPr>
              <a:t>qty/$impact for each PO/SS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2330B59-A00B-FB43-BC0C-101613B62A8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520483" y="4466570"/>
            <a:ext cx="807002" cy="2"/>
          </a:xfrm>
          <a:prstGeom prst="bentConnector3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D1302D6-EC7C-AF4B-BC08-1C1D1FC1040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898316" y="3896466"/>
            <a:ext cx="741954" cy="570104"/>
          </a:xfrm>
          <a:prstGeom prst="bentConnector3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E61DED4-A8DE-5F42-A62C-D92A0A12009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898316" y="4466570"/>
            <a:ext cx="741954" cy="487892"/>
          </a:xfrm>
          <a:prstGeom prst="bentConnector3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7A691228-0517-8542-BF81-AD023E1152D3}"/>
              </a:ext>
            </a:extLst>
          </p:cNvPr>
          <p:cNvCxnSpPr>
            <a:cxnSpLocks/>
            <a:stCxn id="11" idx="4"/>
            <a:endCxn id="6" idx="0"/>
          </p:cNvCxnSpPr>
          <p:nvPr/>
        </p:nvCxnSpPr>
        <p:spPr>
          <a:xfrm rot="16200000" flipH="1">
            <a:off x="2495823" y="2361600"/>
            <a:ext cx="1259822" cy="1974333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A1141026-DB35-D54D-9CC3-A84E984FD45E}"/>
              </a:ext>
            </a:extLst>
          </p:cNvPr>
          <p:cNvCxnSpPr>
            <a:cxnSpLocks/>
            <a:stCxn id="30" idx="4"/>
            <a:endCxn id="6" idx="0"/>
          </p:cNvCxnSpPr>
          <p:nvPr/>
        </p:nvCxnSpPr>
        <p:spPr>
          <a:xfrm rot="16200000" flipH="1">
            <a:off x="3493137" y="3358913"/>
            <a:ext cx="1233989" cy="5539"/>
          </a:xfrm>
          <a:prstGeom prst="bentConnector3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AF66976-8C32-FD4C-8299-A6ED89E3D2A5}"/>
              </a:ext>
            </a:extLst>
          </p:cNvPr>
          <p:cNvSpPr/>
          <p:nvPr/>
        </p:nvSpPr>
        <p:spPr>
          <a:xfrm>
            <a:off x="8268366" y="3173541"/>
            <a:ext cx="3786999" cy="2586058"/>
          </a:xfrm>
          <a:custGeom>
            <a:avLst/>
            <a:gdLst>
              <a:gd name="connsiteX0" fmla="*/ 0 w 3786999"/>
              <a:gd name="connsiteY0" fmla="*/ 431018 h 2586058"/>
              <a:gd name="connsiteX1" fmla="*/ 431018 w 3786999"/>
              <a:gd name="connsiteY1" fmla="*/ 0 h 2586058"/>
              <a:gd name="connsiteX2" fmla="*/ 1074510 w 3786999"/>
              <a:gd name="connsiteY2" fmla="*/ 0 h 2586058"/>
              <a:gd name="connsiteX3" fmla="*/ 1630253 w 3786999"/>
              <a:gd name="connsiteY3" fmla="*/ 0 h 2586058"/>
              <a:gd name="connsiteX4" fmla="*/ 2156746 w 3786999"/>
              <a:gd name="connsiteY4" fmla="*/ 0 h 2586058"/>
              <a:gd name="connsiteX5" fmla="*/ 2770988 w 3786999"/>
              <a:gd name="connsiteY5" fmla="*/ 0 h 2586058"/>
              <a:gd name="connsiteX6" fmla="*/ 3355981 w 3786999"/>
              <a:gd name="connsiteY6" fmla="*/ 0 h 2586058"/>
              <a:gd name="connsiteX7" fmla="*/ 3786999 w 3786999"/>
              <a:gd name="connsiteY7" fmla="*/ 431018 h 2586058"/>
              <a:gd name="connsiteX8" fmla="*/ 3786999 w 3786999"/>
              <a:gd name="connsiteY8" fmla="*/ 1005692 h 2586058"/>
              <a:gd name="connsiteX9" fmla="*/ 3786999 w 3786999"/>
              <a:gd name="connsiteY9" fmla="*/ 1528645 h 2586058"/>
              <a:gd name="connsiteX10" fmla="*/ 3786999 w 3786999"/>
              <a:gd name="connsiteY10" fmla="*/ 2155040 h 2586058"/>
              <a:gd name="connsiteX11" fmla="*/ 3355981 w 3786999"/>
              <a:gd name="connsiteY11" fmla="*/ 2586058 h 2586058"/>
              <a:gd name="connsiteX12" fmla="*/ 2858737 w 3786999"/>
              <a:gd name="connsiteY12" fmla="*/ 2586058 h 2586058"/>
              <a:gd name="connsiteX13" fmla="*/ 2215245 w 3786999"/>
              <a:gd name="connsiteY13" fmla="*/ 2586058 h 2586058"/>
              <a:gd name="connsiteX14" fmla="*/ 1688752 w 3786999"/>
              <a:gd name="connsiteY14" fmla="*/ 2586058 h 2586058"/>
              <a:gd name="connsiteX15" fmla="*/ 1103759 w 3786999"/>
              <a:gd name="connsiteY15" fmla="*/ 2586058 h 2586058"/>
              <a:gd name="connsiteX16" fmla="*/ 431018 w 3786999"/>
              <a:gd name="connsiteY16" fmla="*/ 2586058 h 2586058"/>
              <a:gd name="connsiteX17" fmla="*/ 0 w 3786999"/>
              <a:gd name="connsiteY17" fmla="*/ 2155040 h 2586058"/>
              <a:gd name="connsiteX18" fmla="*/ 0 w 3786999"/>
              <a:gd name="connsiteY18" fmla="*/ 1632087 h 2586058"/>
              <a:gd name="connsiteX19" fmla="*/ 0 w 3786999"/>
              <a:gd name="connsiteY19" fmla="*/ 1022932 h 2586058"/>
              <a:gd name="connsiteX20" fmla="*/ 0 w 3786999"/>
              <a:gd name="connsiteY20" fmla="*/ 431018 h 258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86999" h="2586058" extrusionOk="0">
                <a:moveTo>
                  <a:pt x="0" y="431018"/>
                </a:moveTo>
                <a:cubicBezTo>
                  <a:pt x="-58123" y="157121"/>
                  <a:pt x="130248" y="23542"/>
                  <a:pt x="431018" y="0"/>
                </a:cubicBezTo>
                <a:cubicBezTo>
                  <a:pt x="604525" y="-20103"/>
                  <a:pt x="857237" y="58863"/>
                  <a:pt x="1074510" y="0"/>
                </a:cubicBezTo>
                <a:cubicBezTo>
                  <a:pt x="1291783" y="-58863"/>
                  <a:pt x="1480751" y="19589"/>
                  <a:pt x="1630253" y="0"/>
                </a:cubicBezTo>
                <a:cubicBezTo>
                  <a:pt x="1779755" y="-19589"/>
                  <a:pt x="2000736" y="14121"/>
                  <a:pt x="2156746" y="0"/>
                </a:cubicBezTo>
                <a:cubicBezTo>
                  <a:pt x="2312756" y="-14121"/>
                  <a:pt x="2642218" y="51079"/>
                  <a:pt x="2770988" y="0"/>
                </a:cubicBezTo>
                <a:cubicBezTo>
                  <a:pt x="2899758" y="-51079"/>
                  <a:pt x="3121525" y="17944"/>
                  <a:pt x="3355981" y="0"/>
                </a:cubicBezTo>
                <a:cubicBezTo>
                  <a:pt x="3624201" y="-49105"/>
                  <a:pt x="3737874" y="236143"/>
                  <a:pt x="3786999" y="431018"/>
                </a:cubicBezTo>
                <a:cubicBezTo>
                  <a:pt x="3808162" y="660277"/>
                  <a:pt x="3722569" y="811288"/>
                  <a:pt x="3786999" y="1005692"/>
                </a:cubicBezTo>
                <a:cubicBezTo>
                  <a:pt x="3851429" y="1200096"/>
                  <a:pt x="3750500" y="1420446"/>
                  <a:pt x="3786999" y="1528645"/>
                </a:cubicBezTo>
                <a:cubicBezTo>
                  <a:pt x="3823498" y="1636844"/>
                  <a:pt x="3784197" y="1949605"/>
                  <a:pt x="3786999" y="2155040"/>
                </a:cubicBezTo>
                <a:cubicBezTo>
                  <a:pt x="3811686" y="2429833"/>
                  <a:pt x="3596132" y="2607868"/>
                  <a:pt x="3355981" y="2586058"/>
                </a:cubicBezTo>
                <a:cubicBezTo>
                  <a:pt x="3230239" y="2630100"/>
                  <a:pt x="2968431" y="2584992"/>
                  <a:pt x="2858737" y="2586058"/>
                </a:cubicBezTo>
                <a:cubicBezTo>
                  <a:pt x="2749043" y="2587124"/>
                  <a:pt x="2443589" y="2562489"/>
                  <a:pt x="2215245" y="2586058"/>
                </a:cubicBezTo>
                <a:cubicBezTo>
                  <a:pt x="1986901" y="2609627"/>
                  <a:pt x="1901937" y="2560211"/>
                  <a:pt x="1688752" y="2586058"/>
                </a:cubicBezTo>
                <a:cubicBezTo>
                  <a:pt x="1475567" y="2611905"/>
                  <a:pt x="1353373" y="2531648"/>
                  <a:pt x="1103759" y="2586058"/>
                </a:cubicBezTo>
                <a:cubicBezTo>
                  <a:pt x="854145" y="2640468"/>
                  <a:pt x="639364" y="2532512"/>
                  <a:pt x="431018" y="2586058"/>
                </a:cubicBezTo>
                <a:cubicBezTo>
                  <a:pt x="173873" y="2528602"/>
                  <a:pt x="48256" y="2383281"/>
                  <a:pt x="0" y="2155040"/>
                </a:cubicBezTo>
                <a:cubicBezTo>
                  <a:pt x="-45494" y="2010128"/>
                  <a:pt x="193" y="1876063"/>
                  <a:pt x="0" y="1632087"/>
                </a:cubicBezTo>
                <a:cubicBezTo>
                  <a:pt x="-193" y="1388111"/>
                  <a:pt x="66937" y="1170226"/>
                  <a:pt x="0" y="1022932"/>
                </a:cubicBezTo>
                <a:cubicBezTo>
                  <a:pt x="-66937" y="875638"/>
                  <a:pt x="49055" y="612818"/>
                  <a:pt x="0" y="431018"/>
                </a:cubicBezTo>
                <a:close/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chemeClr val="tx1"/>
                </a:solidFill>
              </a:rPr>
              <a:t>More accurate and E2E data views by using full SCR;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chemeClr val="tx1"/>
                </a:solidFill>
              </a:rPr>
              <a:t>Reduce dependancy on CM;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chemeClr val="tx1"/>
                </a:solidFill>
              </a:rPr>
              <a:t>Productivity gain.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AB5120-C71A-5749-B2F8-9EA870D75E87}"/>
              </a:ext>
            </a:extLst>
          </p:cNvPr>
          <p:cNvSpPr txBox="1"/>
          <p:nvPr/>
        </p:nvSpPr>
        <p:spPr>
          <a:xfrm>
            <a:off x="9096051" y="2979434"/>
            <a:ext cx="2210862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CN" dirty="0"/>
              <a:t>Expected outcomes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010B809-974A-C24A-B6DE-FEA94F82D85A}"/>
              </a:ext>
            </a:extLst>
          </p:cNvPr>
          <p:cNvCxnSpPr>
            <a:cxnSpLocks/>
            <a:stCxn id="31" idx="3"/>
            <a:endCxn id="6" idx="0"/>
          </p:cNvCxnSpPr>
          <p:nvPr/>
        </p:nvCxnSpPr>
        <p:spPr>
          <a:xfrm rot="5400000">
            <a:off x="4331547" y="2526043"/>
            <a:ext cx="1233989" cy="167128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a 10">
            <a:extLst>
              <a:ext uri="{FF2B5EF4-FFF2-40B4-BE49-F238E27FC236}">
                <a16:creationId xmlns:a16="http://schemas.microsoft.com/office/drawing/2014/main" id="{BBC31444-78F0-ED4B-9B08-CEE50D61C30F}"/>
              </a:ext>
            </a:extLst>
          </p:cNvPr>
          <p:cNvSpPr/>
          <p:nvPr/>
        </p:nvSpPr>
        <p:spPr>
          <a:xfrm>
            <a:off x="949651" y="2106208"/>
            <a:ext cx="2377833" cy="612648"/>
          </a:xfrm>
          <a:prstGeom prst="flowChartInputOutpu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000" dirty="0"/>
              <a:t> </a:t>
            </a:r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PCBA SCR </a:t>
            </a:r>
            <a:r>
              <a:rPr lang="en-CN" sz="1000" dirty="0">
                <a:solidFill>
                  <a:srgbClr val="FF0000"/>
                </a:solidFill>
              </a:rPr>
              <a:t>allocated</a:t>
            </a:r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 to specific DF </a:t>
            </a:r>
          </a:p>
          <a:p>
            <a:pPr algn="ctr"/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en-CN" sz="1000" dirty="0">
                <a:solidFill>
                  <a:srgbClr val="FF0000"/>
                </a:solidFill>
              </a:rPr>
              <a:t>E2E supply view</a:t>
            </a:r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F4302DA5-FDAF-C641-A75C-803CBD6197E9}"/>
              </a:ext>
            </a:extLst>
          </p:cNvPr>
          <p:cNvSpPr/>
          <p:nvPr/>
        </p:nvSpPr>
        <p:spPr>
          <a:xfrm>
            <a:off x="3094974" y="2132041"/>
            <a:ext cx="2024776" cy="612648"/>
          </a:xfrm>
          <a:prstGeom prst="flowChartInputOutpu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000" dirty="0"/>
              <a:t> </a:t>
            </a:r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DF supply for specific DF</a:t>
            </a:r>
          </a:p>
        </p:txBody>
      </p:sp>
      <p:sp>
        <p:nvSpPr>
          <p:cNvPr id="31" name="Data 30">
            <a:extLst>
              <a:ext uri="{FF2B5EF4-FFF2-40B4-BE49-F238E27FC236}">
                <a16:creationId xmlns:a16="http://schemas.microsoft.com/office/drawing/2014/main" id="{A0C67CA2-D9B5-914D-9CDE-6A9CA56749F1}"/>
              </a:ext>
            </a:extLst>
          </p:cNvPr>
          <p:cNvSpPr/>
          <p:nvPr/>
        </p:nvSpPr>
        <p:spPr>
          <a:xfrm>
            <a:off x="4974271" y="2132041"/>
            <a:ext cx="2024776" cy="612648"/>
          </a:xfrm>
          <a:prstGeom prst="flowChartInputOutpu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000" dirty="0"/>
              <a:t> </a:t>
            </a:r>
            <a:r>
              <a:rPr lang="en-CN" sz="1000" dirty="0">
                <a:solidFill>
                  <a:schemeClr val="tx1">
                    <a:lumMod val="50000"/>
                  </a:schemeClr>
                </a:solidFill>
              </a:rPr>
              <a:t>DF capacity</a:t>
            </a:r>
          </a:p>
        </p:txBody>
      </p:sp>
    </p:spTree>
    <p:extLst>
      <p:ext uri="{BB962C8B-B14F-4D97-AF65-F5344CB8AC3E}">
        <p14:creationId xmlns:p14="http://schemas.microsoft.com/office/powerpoint/2010/main" val="180914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5085"/>
            <a:ext cx="11343830" cy="975783"/>
          </a:xfrm>
        </p:spPr>
        <p:txBody>
          <a:bodyPr/>
          <a:lstStyle/>
          <a:p>
            <a:r>
              <a:rPr lang="en-CN" sz="3200" dirty="0"/>
              <a:t>Example – Allocate supply/capacity and generate PO/SS CTB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26D3D3-847B-534E-9030-2DC920AF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23" y="1379633"/>
            <a:ext cx="8612949" cy="14063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5B4DC9-DBE9-EF44-A698-8FCD9556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813" y="2971583"/>
            <a:ext cx="7604509" cy="6936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847E79F-B896-C74A-B7E0-87D678A830EC}"/>
              </a:ext>
            </a:extLst>
          </p:cNvPr>
          <p:cNvSpPr txBox="1"/>
          <p:nvPr/>
        </p:nvSpPr>
        <p:spPr>
          <a:xfrm>
            <a:off x="1650127" y="6409842"/>
            <a:ext cx="1002069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CN" dirty="0"/>
              <a:t>Based on this we can summarize the E2E CTB, shortages qty/$impact and RISO (next page)…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D2D252-5651-844C-80B5-6CA6413F1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11" y="4094874"/>
            <a:ext cx="11352276" cy="2067235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DD5135-2B7B-D747-8F6D-7134865A6DF1}"/>
              </a:ext>
            </a:extLst>
          </p:cNvPr>
          <p:cNvSpPr/>
          <p:nvPr/>
        </p:nvSpPr>
        <p:spPr>
          <a:xfrm>
            <a:off x="7231122" y="4162097"/>
            <a:ext cx="845792" cy="2028496"/>
          </a:xfrm>
          <a:custGeom>
            <a:avLst/>
            <a:gdLst>
              <a:gd name="connsiteX0" fmla="*/ 0 w 845792"/>
              <a:gd name="connsiteY0" fmla="*/ 140968 h 2028496"/>
              <a:gd name="connsiteX1" fmla="*/ 140968 w 845792"/>
              <a:gd name="connsiteY1" fmla="*/ 0 h 2028496"/>
              <a:gd name="connsiteX2" fmla="*/ 704824 w 845792"/>
              <a:gd name="connsiteY2" fmla="*/ 0 h 2028496"/>
              <a:gd name="connsiteX3" fmla="*/ 845792 w 845792"/>
              <a:gd name="connsiteY3" fmla="*/ 140968 h 2028496"/>
              <a:gd name="connsiteX4" fmla="*/ 845792 w 845792"/>
              <a:gd name="connsiteY4" fmla="*/ 723155 h 2028496"/>
              <a:gd name="connsiteX5" fmla="*/ 845792 w 845792"/>
              <a:gd name="connsiteY5" fmla="*/ 1287876 h 2028496"/>
              <a:gd name="connsiteX6" fmla="*/ 845792 w 845792"/>
              <a:gd name="connsiteY6" fmla="*/ 1887528 h 2028496"/>
              <a:gd name="connsiteX7" fmla="*/ 704824 w 845792"/>
              <a:gd name="connsiteY7" fmla="*/ 2028496 h 2028496"/>
              <a:gd name="connsiteX8" fmla="*/ 140968 w 845792"/>
              <a:gd name="connsiteY8" fmla="*/ 2028496 h 2028496"/>
              <a:gd name="connsiteX9" fmla="*/ 0 w 845792"/>
              <a:gd name="connsiteY9" fmla="*/ 1887528 h 2028496"/>
              <a:gd name="connsiteX10" fmla="*/ 0 w 845792"/>
              <a:gd name="connsiteY10" fmla="*/ 1287876 h 2028496"/>
              <a:gd name="connsiteX11" fmla="*/ 0 w 845792"/>
              <a:gd name="connsiteY11" fmla="*/ 670758 h 2028496"/>
              <a:gd name="connsiteX12" fmla="*/ 0 w 845792"/>
              <a:gd name="connsiteY12" fmla="*/ 140968 h 202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5792" h="2028496" extrusionOk="0">
                <a:moveTo>
                  <a:pt x="0" y="140968"/>
                </a:moveTo>
                <a:cubicBezTo>
                  <a:pt x="-3483" y="60966"/>
                  <a:pt x="61245" y="701"/>
                  <a:pt x="140968" y="0"/>
                </a:cubicBezTo>
                <a:cubicBezTo>
                  <a:pt x="322804" y="-56752"/>
                  <a:pt x="526099" y="7542"/>
                  <a:pt x="704824" y="0"/>
                </a:cubicBezTo>
                <a:cubicBezTo>
                  <a:pt x="767516" y="-11532"/>
                  <a:pt x="839818" y="75375"/>
                  <a:pt x="845792" y="140968"/>
                </a:cubicBezTo>
                <a:cubicBezTo>
                  <a:pt x="857145" y="397192"/>
                  <a:pt x="786183" y="576876"/>
                  <a:pt x="845792" y="723155"/>
                </a:cubicBezTo>
                <a:cubicBezTo>
                  <a:pt x="905401" y="869434"/>
                  <a:pt x="790475" y="1029763"/>
                  <a:pt x="845792" y="1287876"/>
                </a:cubicBezTo>
                <a:cubicBezTo>
                  <a:pt x="901109" y="1545989"/>
                  <a:pt x="836907" y="1634210"/>
                  <a:pt x="845792" y="1887528"/>
                </a:cubicBezTo>
                <a:cubicBezTo>
                  <a:pt x="843537" y="1943874"/>
                  <a:pt x="780202" y="2031937"/>
                  <a:pt x="704824" y="2028496"/>
                </a:cubicBezTo>
                <a:cubicBezTo>
                  <a:pt x="579365" y="2060984"/>
                  <a:pt x="283232" y="1981193"/>
                  <a:pt x="140968" y="2028496"/>
                </a:cubicBezTo>
                <a:cubicBezTo>
                  <a:pt x="60968" y="2028373"/>
                  <a:pt x="4564" y="1952865"/>
                  <a:pt x="0" y="1887528"/>
                </a:cubicBezTo>
                <a:cubicBezTo>
                  <a:pt x="-16882" y="1718294"/>
                  <a:pt x="11722" y="1525095"/>
                  <a:pt x="0" y="1287876"/>
                </a:cubicBezTo>
                <a:cubicBezTo>
                  <a:pt x="-11722" y="1050657"/>
                  <a:pt x="34670" y="798564"/>
                  <a:pt x="0" y="670758"/>
                </a:cubicBezTo>
                <a:cubicBezTo>
                  <a:pt x="-34670" y="542952"/>
                  <a:pt x="45520" y="260946"/>
                  <a:pt x="0" y="14096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6AFA93-5000-9A42-8220-A89DD05ACBA4}"/>
              </a:ext>
            </a:extLst>
          </p:cNvPr>
          <p:cNvSpPr/>
          <p:nvPr/>
        </p:nvSpPr>
        <p:spPr>
          <a:xfrm>
            <a:off x="9214825" y="4191705"/>
            <a:ext cx="1432154" cy="2028496"/>
          </a:xfrm>
          <a:custGeom>
            <a:avLst/>
            <a:gdLst>
              <a:gd name="connsiteX0" fmla="*/ 0 w 1432154"/>
              <a:gd name="connsiteY0" fmla="*/ 238697 h 2028496"/>
              <a:gd name="connsiteX1" fmla="*/ 238697 w 1432154"/>
              <a:gd name="connsiteY1" fmla="*/ 0 h 2028496"/>
              <a:gd name="connsiteX2" fmla="*/ 735172 w 1432154"/>
              <a:gd name="connsiteY2" fmla="*/ 0 h 2028496"/>
              <a:gd name="connsiteX3" fmla="*/ 1193457 w 1432154"/>
              <a:gd name="connsiteY3" fmla="*/ 0 h 2028496"/>
              <a:gd name="connsiteX4" fmla="*/ 1432154 w 1432154"/>
              <a:gd name="connsiteY4" fmla="*/ 238697 h 2028496"/>
              <a:gd name="connsiteX5" fmla="*/ 1432154 w 1432154"/>
              <a:gd name="connsiteY5" fmla="*/ 724709 h 2028496"/>
              <a:gd name="connsiteX6" fmla="*/ 1432154 w 1432154"/>
              <a:gd name="connsiteY6" fmla="*/ 1272765 h 2028496"/>
              <a:gd name="connsiteX7" fmla="*/ 1432154 w 1432154"/>
              <a:gd name="connsiteY7" fmla="*/ 1789799 h 2028496"/>
              <a:gd name="connsiteX8" fmla="*/ 1193457 w 1432154"/>
              <a:gd name="connsiteY8" fmla="*/ 2028496 h 2028496"/>
              <a:gd name="connsiteX9" fmla="*/ 735172 w 1432154"/>
              <a:gd name="connsiteY9" fmla="*/ 2028496 h 2028496"/>
              <a:gd name="connsiteX10" fmla="*/ 238697 w 1432154"/>
              <a:gd name="connsiteY10" fmla="*/ 2028496 h 2028496"/>
              <a:gd name="connsiteX11" fmla="*/ 0 w 1432154"/>
              <a:gd name="connsiteY11" fmla="*/ 1789799 h 2028496"/>
              <a:gd name="connsiteX12" fmla="*/ 0 w 1432154"/>
              <a:gd name="connsiteY12" fmla="*/ 1272765 h 2028496"/>
              <a:gd name="connsiteX13" fmla="*/ 0 w 1432154"/>
              <a:gd name="connsiteY13" fmla="*/ 786753 h 2028496"/>
              <a:gd name="connsiteX14" fmla="*/ 0 w 1432154"/>
              <a:gd name="connsiteY14" fmla="*/ 238697 h 202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32154" h="2028496" extrusionOk="0">
                <a:moveTo>
                  <a:pt x="0" y="238697"/>
                </a:moveTo>
                <a:cubicBezTo>
                  <a:pt x="-5834" y="103270"/>
                  <a:pt x="98065" y="3304"/>
                  <a:pt x="238697" y="0"/>
                </a:cubicBezTo>
                <a:cubicBezTo>
                  <a:pt x="367415" y="-29936"/>
                  <a:pt x="515355" y="40670"/>
                  <a:pt x="735172" y="0"/>
                </a:cubicBezTo>
                <a:cubicBezTo>
                  <a:pt x="954989" y="-40670"/>
                  <a:pt x="970591" y="36718"/>
                  <a:pt x="1193457" y="0"/>
                </a:cubicBezTo>
                <a:cubicBezTo>
                  <a:pt x="1321452" y="-2098"/>
                  <a:pt x="1439512" y="110384"/>
                  <a:pt x="1432154" y="238697"/>
                </a:cubicBezTo>
                <a:cubicBezTo>
                  <a:pt x="1441893" y="359970"/>
                  <a:pt x="1412102" y="572135"/>
                  <a:pt x="1432154" y="724709"/>
                </a:cubicBezTo>
                <a:cubicBezTo>
                  <a:pt x="1452206" y="877283"/>
                  <a:pt x="1390170" y="1123199"/>
                  <a:pt x="1432154" y="1272765"/>
                </a:cubicBezTo>
                <a:cubicBezTo>
                  <a:pt x="1474138" y="1422331"/>
                  <a:pt x="1381207" y="1582825"/>
                  <a:pt x="1432154" y="1789799"/>
                </a:cubicBezTo>
                <a:cubicBezTo>
                  <a:pt x="1416033" y="1948297"/>
                  <a:pt x="1299479" y="1998564"/>
                  <a:pt x="1193457" y="2028496"/>
                </a:cubicBezTo>
                <a:cubicBezTo>
                  <a:pt x="989703" y="2054816"/>
                  <a:pt x="913063" y="1983577"/>
                  <a:pt x="735172" y="2028496"/>
                </a:cubicBezTo>
                <a:cubicBezTo>
                  <a:pt x="557282" y="2073415"/>
                  <a:pt x="408185" y="1984835"/>
                  <a:pt x="238697" y="2028496"/>
                </a:cubicBezTo>
                <a:cubicBezTo>
                  <a:pt x="112538" y="2022893"/>
                  <a:pt x="12264" y="1913720"/>
                  <a:pt x="0" y="1789799"/>
                </a:cubicBezTo>
                <a:cubicBezTo>
                  <a:pt x="-33422" y="1637104"/>
                  <a:pt x="44237" y="1456429"/>
                  <a:pt x="0" y="1272765"/>
                </a:cubicBezTo>
                <a:cubicBezTo>
                  <a:pt x="-44237" y="1089101"/>
                  <a:pt x="30100" y="978007"/>
                  <a:pt x="0" y="786753"/>
                </a:cubicBezTo>
                <a:cubicBezTo>
                  <a:pt x="-30100" y="595499"/>
                  <a:pt x="20811" y="503270"/>
                  <a:pt x="0" y="238697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06290B-6308-864D-9481-FD0D941352D7}"/>
              </a:ext>
            </a:extLst>
          </p:cNvPr>
          <p:cNvSpPr/>
          <p:nvPr/>
        </p:nvSpPr>
        <p:spPr>
          <a:xfrm>
            <a:off x="10720552" y="4201240"/>
            <a:ext cx="1346438" cy="2028497"/>
          </a:xfrm>
          <a:custGeom>
            <a:avLst/>
            <a:gdLst>
              <a:gd name="connsiteX0" fmla="*/ 0 w 1346438"/>
              <a:gd name="connsiteY0" fmla="*/ 224411 h 2028497"/>
              <a:gd name="connsiteX1" fmla="*/ 224411 w 1346438"/>
              <a:gd name="connsiteY1" fmla="*/ 0 h 2028497"/>
              <a:gd name="connsiteX2" fmla="*/ 691171 w 1346438"/>
              <a:gd name="connsiteY2" fmla="*/ 0 h 2028497"/>
              <a:gd name="connsiteX3" fmla="*/ 1122027 w 1346438"/>
              <a:gd name="connsiteY3" fmla="*/ 0 h 2028497"/>
              <a:gd name="connsiteX4" fmla="*/ 1346438 w 1346438"/>
              <a:gd name="connsiteY4" fmla="*/ 224411 h 2028497"/>
              <a:gd name="connsiteX5" fmla="*/ 1346438 w 1346438"/>
              <a:gd name="connsiteY5" fmla="*/ 719376 h 2028497"/>
              <a:gd name="connsiteX6" fmla="*/ 1346438 w 1346438"/>
              <a:gd name="connsiteY6" fmla="*/ 1277528 h 2028497"/>
              <a:gd name="connsiteX7" fmla="*/ 1346438 w 1346438"/>
              <a:gd name="connsiteY7" fmla="*/ 1804086 h 2028497"/>
              <a:gd name="connsiteX8" fmla="*/ 1122027 w 1346438"/>
              <a:gd name="connsiteY8" fmla="*/ 2028497 h 2028497"/>
              <a:gd name="connsiteX9" fmla="*/ 691171 w 1346438"/>
              <a:gd name="connsiteY9" fmla="*/ 2028497 h 2028497"/>
              <a:gd name="connsiteX10" fmla="*/ 224411 w 1346438"/>
              <a:gd name="connsiteY10" fmla="*/ 2028497 h 2028497"/>
              <a:gd name="connsiteX11" fmla="*/ 0 w 1346438"/>
              <a:gd name="connsiteY11" fmla="*/ 1804086 h 2028497"/>
              <a:gd name="connsiteX12" fmla="*/ 0 w 1346438"/>
              <a:gd name="connsiteY12" fmla="*/ 1277528 h 2028497"/>
              <a:gd name="connsiteX13" fmla="*/ 0 w 1346438"/>
              <a:gd name="connsiteY13" fmla="*/ 782563 h 2028497"/>
              <a:gd name="connsiteX14" fmla="*/ 0 w 1346438"/>
              <a:gd name="connsiteY14" fmla="*/ 224411 h 2028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46438" h="2028497" extrusionOk="0">
                <a:moveTo>
                  <a:pt x="0" y="224411"/>
                </a:moveTo>
                <a:cubicBezTo>
                  <a:pt x="-11855" y="93160"/>
                  <a:pt x="74898" y="9598"/>
                  <a:pt x="224411" y="0"/>
                </a:cubicBezTo>
                <a:cubicBezTo>
                  <a:pt x="445885" y="-8503"/>
                  <a:pt x="501003" y="25512"/>
                  <a:pt x="691171" y="0"/>
                </a:cubicBezTo>
                <a:cubicBezTo>
                  <a:pt x="881339" y="-25512"/>
                  <a:pt x="910903" y="49459"/>
                  <a:pt x="1122027" y="0"/>
                </a:cubicBezTo>
                <a:cubicBezTo>
                  <a:pt x="1218385" y="-15090"/>
                  <a:pt x="1368308" y="110922"/>
                  <a:pt x="1346438" y="224411"/>
                </a:cubicBezTo>
                <a:cubicBezTo>
                  <a:pt x="1347034" y="341529"/>
                  <a:pt x="1300300" y="536877"/>
                  <a:pt x="1346438" y="719376"/>
                </a:cubicBezTo>
                <a:cubicBezTo>
                  <a:pt x="1392576" y="901875"/>
                  <a:pt x="1331121" y="1148079"/>
                  <a:pt x="1346438" y="1277528"/>
                </a:cubicBezTo>
                <a:cubicBezTo>
                  <a:pt x="1361755" y="1406977"/>
                  <a:pt x="1285425" y="1696464"/>
                  <a:pt x="1346438" y="1804086"/>
                </a:cubicBezTo>
                <a:cubicBezTo>
                  <a:pt x="1333715" y="1949072"/>
                  <a:pt x="1244132" y="2026370"/>
                  <a:pt x="1122027" y="2028497"/>
                </a:cubicBezTo>
                <a:cubicBezTo>
                  <a:pt x="983140" y="2045013"/>
                  <a:pt x="851365" y="2012433"/>
                  <a:pt x="691171" y="2028497"/>
                </a:cubicBezTo>
                <a:cubicBezTo>
                  <a:pt x="530977" y="2044561"/>
                  <a:pt x="393562" y="2020297"/>
                  <a:pt x="224411" y="2028497"/>
                </a:cubicBezTo>
                <a:cubicBezTo>
                  <a:pt x="120140" y="2009062"/>
                  <a:pt x="14943" y="1918390"/>
                  <a:pt x="0" y="1804086"/>
                </a:cubicBezTo>
                <a:cubicBezTo>
                  <a:pt x="-18406" y="1661280"/>
                  <a:pt x="43763" y="1495323"/>
                  <a:pt x="0" y="1277528"/>
                </a:cubicBezTo>
                <a:cubicBezTo>
                  <a:pt x="-43763" y="1059733"/>
                  <a:pt x="30441" y="885376"/>
                  <a:pt x="0" y="782563"/>
                </a:cubicBezTo>
                <a:cubicBezTo>
                  <a:pt x="-30441" y="679750"/>
                  <a:pt x="2234" y="426799"/>
                  <a:pt x="0" y="224411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30EC4C-6FFD-134F-A4D8-AE6068852B34}"/>
              </a:ext>
            </a:extLst>
          </p:cNvPr>
          <p:cNvCxnSpPr>
            <a:cxnSpLocks/>
          </p:cNvCxnSpPr>
          <p:nvPr/>
        </p:nvCxnSpPr>
        <p:spPr>
          <a:xfrm>
            <a:off x="4099028" y="2848305"/>
            <a:ext cx="0" cy="1597571"/>
          </a:xfrm>
          <a:prstGeom prst="straightConnector1">
            <a:avLst/>
          </a:prstGeom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02677C-FC3A-364F-8B51-92BB185DE608}"/>
              </a:ext>
            </a:extLst>
          </p:cNvPr>
          <p:cNvCxnSpPr>
            <a:cxnSpLocks/>
          </p:cNvCxnSpPr>
          <p:nvPr/>
        </p:nvCxnSpPr>
        <p:spPr>
          <a:xfrm>
            <a:off x="6429538" y="3720663"/>
            <a:ext cx="0" cy="725213"/>
          </a:xfrm>
          <a:prstGeom prst="straightConnector1">
            <a:avLst/>
          </a:prstGeom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7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200" dirty="0"/>
              <a:t>(continued) Aggregated Summaries (examples)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225C1-DADB-2E4C-92DC-6AD30A23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07" y="1124045"/>
            <a:ext cx="8121869" cy="50577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AC0D93-FC76-1C4B-A627-66D91CEFFB9A}"/>
              </a:ext>
            </a:extLst>
          </p:cNvPr>
          <p:cNvSpPr txBox="1"/>
          <p:nvPr/>
        </p:nvSpPr>
        <p:spPr>
          <a:xfrm>
            <a:off x="9469820" y="2921168"/>
            <a:ext cx="18261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400" dirty="0">
                <a:solidFill>
                  <a:schemeClr val="accent1"/>
                </a:solidFill>
              </a:rPr>
              <a:t>Refer to real output for the latest</a:t>
            </a:r>
          </a:p>
        </p:txBody>
      </p:sp>
    </p:spTree>
    <p:extLst>
      <p:ext uri="{BB962C8B-B14F-4D97-AF65-F5344CB8AC3E}">
        <p14:creationId xmlns:p14="http://schemas.microsoft.com/office/powerpoint/2010/main" val="13702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Main WorkFlow</a:t>
            </a:r>
          </a:p>
        </p:txBody>
      </p:sp>
      <p:sp>
        <p:nvSpPr>
          <p:cNvPr id="3" name="Terminator 2">
            <a:extLst>
              <a:ext uri="{FF2B5EF4-FFF2-40B4-BE49-F238E27FC236}">
                <a16:creationId xmlns:a16="http://schemas.microsoft.com/office/drawing/2014/main" id="{E8A76127-C014-9B4C-8794-8783CAFC675A}"/>
              </a:ext>
            </a:extLst>
          </p:cNvPr>
          <p:cNvSpPr/>
          <p:nvPr/>
        </p:nvSpPr>
        <p:spPr>
          <a:xfrm>
            <a:off x="1343400" y="1444616"/>
            <a:ext cx="982714" cy="318766"/>
          </a:xfrm>
          <a:prstGeom prst="flowChartTerminator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D1E82817-15B6-BE4B-9D6C-0677636A4D7F}"/>
              </a:ext>
            </a:extLst>
          </p:cNvPr>
          <p:cNvSpPr/>
          <p:nvPr/>
        </p:nvSpPr>
        <p:spPr>
          <a:xfrm>
            <a:off x="1035541" y="2236032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Read data </a:t>
            </a:r>
          </a:p>
          <a:p>
            <a:pPr algn="ctr"/>
            <a:r>
              <a:rPr lang="en-CN" sz="1200" dirty="0"/>
              <a:t>(</a:t>
            </a:r>
            <a:r>
              <a:rPr lang="en-CN" sz="1050" dirty="0"/>
              <a:t>3A4, PCBA supply, DF supply, BOM, CT2R, capacity,exception</a:t>
            </a:r>
            <a:r>
              <a:rPr lang="en-CN" sz="1200" dirty="0"/>
              <a:t>)</a:t>
            </a: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2DBF6D2F-5C75-9D4A-B5C6-98551ECF135C}"/>
              </a:ext>
            </a:extLst>
          </p:cNvPr>
          <p:cNvSpPr/>
          <p:nvPr/>
        </p:nvSpPr>
        <p:spPr>
          <a:xfrm>
            <a:off x="5103372" y="5006258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Allocate PCBA/DF supply to each PO in sequence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9E18D6-CE8B-D64D-88E5-D7125325D79E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>
            <a:off x="1834757" y="1763382"/>
            <a:ext cx="0" cy="47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redefined Process 3">
            <a:extLst>
              <a:ext uri="{FF2B5EF4-FFF2-40B4-BE49-F238E27FC236}">
                <a16:creationId xmlns:a16="http://schemas.microsoft.com/office/drawing/2014/main" id="{68111F65-8CF5-344F-B85F-886BC5616189}"/>
              </a:ext>
            </a:extLst>
          </p:cNvPr>
          <p:cNvSpPr/>
          <p:nvPr/>
        </p:nvSpPr>
        <p:spPr>
          <a:xfrm>
            <a:off x="5103377" y="2233674"/>
            <a:ext cx="1598427" cy="925811"/>
          </a:xfrm>
          <a:prstGeom prst="flowChartPredefinedProcess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Sort/Rank 3A4 SS/PO into a “production” sequence</a:t>
            </a:r>
          </a:p>
        </p:txBody>
      </p:sp>
      <p:sp>
        <p:nvSpPr>
          <p:cNvPr id="55" name="Process 54">
            <a:extLst>
              <a:ext uri="{FF2B5EF4-FFF2-40B4-BE49-F238E27FC236}">
                <a16:creationId xmlns:a16="http://schemas.microsoft.com/office/drawing/2014/main" id="{451D3FA4-5409-AF49-A7A7-89CE573CB662}"/>
              </a:ext>
            </a:extLst>
          </p:cNvPr>
          <p:cNvSpPr/>
          <p:nvPr/>
        </p:nvSpPr>
        <p:spPr>
          <a:xfrm>
            <a:off x="1037890" y="3625422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Convert SCR supply to ETA based</a:t>
            </a: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2AD612BE-63A4-1A4E-AAC8-8AC8C3795E91}"/>
              </a:ext>
            </a:extLst>
          </p:cNvPr>
          <p:cNvSpPr/>
          <p:nvPr/>
        </p:nvSpPr>
        <p:spPr>
          <a:xfrm>
            <a:off x="5103372" y="3630770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Add BOM PN into 3A4</a:t>
            </a: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5F7F4430-40BA-444F-ADB1-E35E236B837F}"/>
              </a:ext>
            </a:extLst>
          </p:cNvPr>
          <p:cNvSpPr/>
          <p:nvPr/>
        </p:nvSpPr>
        <p:spPr>
          <a:xfrm>
            <a:off x="1029377" y="5012069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Change PN to versionless (PCBA/DF supply, BOM, CT2R)</a:t>
            </a:r>
          </a:p>
        </p:txBody>
      </p:sp>
      <p:sp>
        <p:nvSpPr>
          <p:cNvPr id="67" name="Process 66">
            <a:extLst>
              <a:ext uri="{FF2B5EF4-FFF2-40B4-BE49-F238E27FC236}">
                <a16:creationId xmlns:a16="http://schemas.microsoft.com/office/drawing/2014/main" id="{1FCE3F04-4BD1-BA44-8994-23E92C02D572}"/>
              </a:ext>
            </a:extLst>
          </p:cNvPr>
          <p:cNvSpPr/>
          <p:nvPr/>
        </p:nvSpPr>
        <p:spPr>
          <a:xfrm>
            <a:off x="7141417" y="5006258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Calculate supply ready date (PN level, PO level) and shortages</a:t>
            </a:r>
          </a:p>
        </p:txBody>
      </p:sp>
      <p:sp>
        <p:nvSpPr>
          <p:cNvPr id="68" name="Process 67">
            <a:extLst>
              <a:ext uri="{FF2B5EF4-FFF2-40B4-BE49-F238E27FC236}">
                <a16:creationId xmlns:a16="http://schemas.microsoft.com/office/drawing/2014/main" id="{E7F2A403-1E50-CC49-AFB6-78C73AB7A80E}"/>
              </a:ext>
            </a:extLst>
          </p:cNvPr>
          <p:cNvSpPr/>
          <p:nvPr/>
        </p:nvSpPr>
        <p:spPr>
          <a:xfrm>
            <a:off x="7137293" y="2249249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Calculate PO ,SS CTB date and identify top gating</a:t>
            </a:r>
          </a:p>
        </p:txBody>
      </p:sp>
      <p:sp>
        <p:nvSpPr>
          <p:cNvPr id="70" name="Process 69">
            <a:extLst>
              <a:ext uri="{FF2B5EF4-FFF2-40B4-BE49-F238E27FC236}">
                <a16:creationId xmlns:a16="http://schemas.microsoft.com/office/drawing/2014/main" id="{08297172-1F18-F842-B541-E693EB94498E}"/>
              </a:ext>
            </a:extLst>
          </p:cNvPr>
          <p:cNvSpPr/>
          <p:nvPr/>
        </p:nvSpPr>
        <p:spPr>
          <a:xfrm>
            <a:off x="7141417" y="3630770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Allocate capacity to each PO in sequence</a:t>
            </a:r>
          </a:p>
        </p:txBody>
      </p:sp>
      <p:sp>
        <p:nvSpPr>
          <p:cNvPr id="72" name="Process 71">
            <a:extLst>
              <a:ext uri="{FF2B5EF4-FFF2-40B4-BE49-F238E27FC236}">
                <a16:creationId xmlns:a16="http://schemas.microsoft.com/office/drawing/2014/main" id="{30B5607F-AB15-9F4F-A718-A8AEAACC7D06}"/>
              </a:ext>
            </a:extLst>
          </p:cNvPr>
          <p:cNvSpPr/>
          <p:nvPr/>
        </p:nvSpPr>
        <p:spPr>
          <a:xfrm>
            <a:off x="9162698" y="2249249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Update SS status (RISO to be, pull in/decommit)</a:t>
            </a:r>
          </a:p>
        </p:txBody>
      </p:sp>
      <p:sp>
        <p:nvSpPr>
          <p:cNvPr id="74" name="Process 73">
            <a:extLst>
              <a:ext uri="{FF2B5EF4-FFF2-40B4-BE49-F238E27FC236}">
                <a16:creationId xmlns:a16="http://schemas.microsoft.com/office/drawing/2014/main" id="{13E8CF02-2027-2448-AF03-32759F54279C}"/>
              </a:ext>
            </a:extLst>
          </p:cNvPr>
          <p:cNvSpPr/>
          <p:nvPr/>
        </p:nvSpPr>
        <p:spPr>
          <a:xfrm>
            <a:off x="9162698" y="3624385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Identify gating/non-gating materials and impact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B79548-2C99-8D43-81AF-6BBDC11A14DE}"/>
              </a:ext>
            </a:extLst>
          </p:cNvPr>
          <p:cNvCxnSpPr>
            <a:cxnSpLocks/>
            <a:stCxn id="24" idx="2"/>
            <a:endCxn id="55" idx="0"/>
          </p:cNvCxnSpPr>
          <p:nvPr/>
        </p:nvCxnSpPr>
        <p:spPr>
          <a:xfrm>
            <a:off x="1834757" y="3161843"/>
            <a:ext cx="2349" cy="46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1B85F6-21BC-364F-B862-9D8123531D62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1834757" y="4551233"/>
            <a:ext cx="2349" cy="460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51BE167-0AF7-8A44-A2C3-7FDA7AC9E65A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8727209" y="2712155"/>
            <a:ext cx="435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rminator 105">
            <a:extLst>
              <a:ext uri="{FF2B5EF4-FFF2-40B4-BE49-F238E27FC236}">
                <a16:creationId xmlns:a16="http://schemas.microsoft.com/office/drawing/2014/main" id="{A4CFBFF6-60E4-FA45-BCFF-4A3BF742A43B}"/>
              </a:ext>
            </a:extLst>
          </p:cNvPr>
          <p:cNvSpPr/>
          <p:nvPr/>
        </p:nvSpPr>
        <p:spPr>
          <a:xfrm>
            <a:off x="11183977" y="5324888"/>
            <a:ext cx="982714" cy="318766"/>
          </a:xfrm>
          <a:prstGeom prst="flowChartTerminator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114" name="Predefined Process 113">
            <a:extLst>
              <a:ext uri="{FF2B5EF4-FFF2-40B4-BE49-F238E27FC236}">
                <a16:creationId xmlns:a16="http://schemas.microsoft.com/office/drawing/2014/main" id="{21F97CF7-9A86-9D40-A117-83C0121CA8B6}"/>
              </a:ext>
            </a:extLst>
          </p:cNvPr>
          <p:cNvSpPr/>
          <p:nvPr/>
        </p:nvSpPr>
        <p:spPr>
          <a:xfrm>
            <a:off x="3071682" y="3624386"/>
            <a:ext cx="1598427" cy="925811"/>
          </a:xfrm>
          <a:prstGeom prst="flowChartPredefinedProcess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Recover DF supply after CT2R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869FAD-567A-EB48-839D-03403F6F8771}"/>
              </a:ext>
            </a:extLst>
          </p:cNvPr>
          <p:cNvSpPr txBox="1"/>
          <p:nvPr/>
        </p:nvSpPr>
        <p:spPr>
          <a:xfrm>
            <a:off x="1037890" y="6102994"/>
            <a:ext cx="9828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Note: only consider PN provided in the supply input; others considered as no need to consider.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8DC8685F-D223-CE41-9437-A78F41F0A6BA}"/>
              </a:ext>
            </a:extLst>
          </p:cNvPr>
          <p:cNvSpPr/>
          <p:nvPr/>
        </p:nvSpPr>
        <p:spPr>
          <a:xfrm>
            <a:off x="3071682" y="5006259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Exclude CT2R&lt;5days PN from DF supply</a:t>
            </a:r>
          </a:p>
        </p:txBody>
      </p:sp>
      <p:sp>
        <p:nvSpPr>
          <p:cNvPr id="33" name="Predefined Process 32">
            <a:extLst>
              <a:ext uri="{FF2B5EF4-FFF2-40B4-BE49-F238E27FC236}">
                <a16:creationId xmlns:a16="http://schemas.microsoft.com/office/drawing/2014/main" id="{765CD0E7-52B1-2C4C-B28B-EE69956C7517}"/>
              </a:ext>
            </a:extLst>
          </p:cNvPr>
          <p:cNvSpPr/>
          <p:nvPr/>
        </p:nvSpPr>
        <p:spPr>
          <a:xfrm>
            <a:off x="5103377" y="1028319"/>
            <a:ext cx="1598427" cy="925811"/>
          </a:xfrm>
          <a:prstGeom prst="flowChartPredefinedProcess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3A4 backlog processings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718B93-6083-DB40-8F9B-72CA3944FE7F}"/>
              </a:ext>
            </a:extLst>
          </p:cNvPr>
          <p:cNvCxnSpPr>
            <a:cxnSpLocks/>
            <a:stCxn id="61" idx="3"/>
            <a:endCxn id="31" idx="1"/>
          </p:cNvCxnSpPr>
          <p:nvPr/>
        </p:nvCxnSpPr>
        <p:spPr>
          <a:xfrm flipV="1">
            <a:off x="2627809" y="5469165"/>
            <a:ext cx="443873" cy="5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DE428E-E82F-A647-85D6-95A6DFC7E1BD}"/>
              </a:ext>
            </a:extLst>
          </p:cNvPr>
          <p:cNvCxnSpPr>
            <a:cxnSpLocks/>
            <a:stCxn id="31" idx="0"/>
            <a:endCxn id="114" idx="2"/>
          </p:cNvCxnSpPr>
          <p:nvPr/>
        </p:nvCxnSpPr>
        <p:spPr>
          <a:xfrm flipH="1" flipV="1">
            <a:off x="3870896" y="4550197"/>
            <a:ext cx="2" cy="45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0828AD-BCB4-BE48-AE77-5055473D4605}"/>
              </a:ext>
            </a:extLst>
          </p:cNvPr>
          <p:cNvCxnSpPr>
            <a:cxnSpLocks/>
            <a:stCxn id="33" idx="2"/>
            <a:endCxn id="4" idx="0"/>
          </p:cNvCxnSpPr>
          <p:nvPr/>
        </p:nvCxnSpPr>
        <p:spPr>
          <a:xfrm>
            <a:off x="5902591" y="1954130"/>
            <a:ext cx="0" cy="279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27F3CD8-1D09-CB4A-8879-DFBD1AD79A43}"/>
              </a:ext>
            </a:extLst>
          </p:cNvPr>
          <p:cNvCxnSpPr>
            <a:cxnSpLocks/>
            <a:stCxn id="4" idx="2"/>
            <a:endCxn id="59" idx="0"/>
          </p:cNvCxnSpPr>
          <p:nvPr/>
        </p:nvCxnSpPr>
        <p:spPr>
          <a:xfrm flipH="1">
            <a:off x="5902588" y="3159485"/>
            <a:ext cx="3" cy="471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9F253F8-82BB-8846-9309-259B6C416073}"/>
              </a:ext>
            </a:extLst>
          </p:cNvPr>
          <p:cNvCxnSpPr>
            <a:cxnSpLocks/>
            <a:stCxn id="59" idx="2"/>
            <a:endCxn id="26" idx="0"/>
          </p:cNvCxnSpPr>
          <p:nvPr/>
        </p:nvCxnSpPr>
        <p:spPr>
          <a:xfrm flipH="1">
            <a:off x="5898330" y="4556581"/>
            <a:ext cx="4258" cy="44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9CD2ED-2CF9-4C43-928D-04FB67D59116}"/>
              </a:ext>
            </a:extLst>
          </p:cNvPr>
          <p:cNvCxnSpPr>
            <a:cxnSpLocks/>
            <a:stCxn id="26" idx="3"/>
            <a:endCxn id="67" idx="1"/>
          </p:cNvCxnSpPr>
          <p:nvPr/>
        </p:nvCxnSpPr>
        <p:spPr>
          <a:xfrm>
            <a:off x="6693288" y="5469164"/>
            <a:ext cx="448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29967D-0D84-084D-84CC-6D4143B65109}"/>
              </a:ext>
            </a:extLst>
          </p:cNvPr>
          <p:cNvCxnSpPr>
            <a:cxnSpLocks/>
            <a:stCxn id="67" idx="0"/>
            <a:endCxn id="70" idx="2"/>
          </p:cNvCxnSpPr>
          <p:nvPr/>
        </p:nvCxnSpPr>
        <p:spPr>
          <a:xfrm flipV="1">
            <a:off x="7936375" y="4556581"/>
            <a:ext cx="0" cy="44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87880A5-B3EA-FF46-AB18-720570F82CF2}"/>
              </a:ext>
            </a:extLst>
          </p:cNvPr>
          <p:cNvCxnSpPr>
            <a:cxnSpLocks/>
            <a:stCxn id="70" idx="0"/>
            <a:endCxn id="68" idx="2"/>
          </p:cNvCxnSpPr>
          <p:nvPr/>
        </p:nvCxnSpPr>
        <p:spPr>
          <a:xfrm flipH="1" flipV="1">
            <a:off x="7932251" y="3175060"/>
            <a:ext cx="4124" cy="455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E1633D0-162C-774D-BAB5-4CB80EBEAD18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>
            <a:off x="9957656" y="3175060"/>
            <a:ext cx="0" cy="449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BBE4A1B-D944-0C4E-B740-338A5B9C2D56}"/>
              </a:ext>
            </a:extLst>
          </p:cNvPr>
          <p:cNvCxnSpPr>
            <a:cxnSpLocks/>
            <a:stCxn id="74" idx="2"/>
          </p:cNvCxnSpPr>
          <p:nvPr/>
        </p:nvCxnSpPr>
        <p:spPr>
          <a:xfrm flipH="1">
            <a:off x="9957655" y="4550196"/>
            <a:ext cx="1" cy="456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rocess 40">
            <a:extLst>
              <a:ext uri="{FF2B5EF4-FFF2-40B4-BE49-F238E27FC236}">
                <a16:creationId xmlns:a16="http://schemas.microsoft.com/office/drawing/2014/main" id="{2A5D39D6-5E11-6842-B8AF-87E67D9B1D5B}"/>
              </a:ext>
            </a:extLst>
          </p:cNvPr>
          <p:cNvSpPr/>
          <p:nvPr/>
        </p:nvSpPr>
        <p:spPr>
          <a:xfrm>
            <a:off x="3067236" y="2241480"/>
            <a:ext cx="1598432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Add exception into 3A4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BE3261-2A13-3544-AABF-A6DA43285A1E}"/>
              </a:ext>
            </a:extLst>
          </p:cNvPr>
          <p:cNvCxnSpPr>
            <a:cxnSpLocks/>
            <a:stCxn id="114" idx="0"/>
            <a:endCxn id="41" idx="2"/>
          </p:cNvCxnSpPr>
          <p:nvPr/>
        </p:nvCxnSpPr>
        <p:spPr>
          <a:xfrm flipH="1" flipV="1">
            <a:off x="3866452" y="3167291"/>
            <a:ext cx="4444" cy="457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5F00B63-C587-AE4A-A1C1-E5FC0A13FC25}"/>
              </a:ext>
            </a:extLst>
          </p:cNvPr>
          <p:cNvCxnSpPr>
            <a:cxnSpLocks/>
            <a:stCxn id="41" idx="0"/>
            <a:endCxn id="33" idx="1"/>
          </p:cNvCxnSpPr>
          <p:nvPr/>
        </p:nvCxnSpPr>
        <p:spPr>
          <a:xfrm rot="5400000" flipH="1" flipV="1">
            <a:off x="4109787" y="1247891"/>
            <a:ext cx="750255" cy="1236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rocess 38">
            <a:extLst>
              <a:ext uri="{FF2B5EF4-FFF2-40B4-BE49-F238E27FC236}">
                <a16:creationId xmlns:a16="http://schemas.microsoft.com/office/drawing/2014/main" id="{9EDD92B3-609F-9043-B8D9-A4CC38B289D9}"/>
              </a:ext>
            </a:extLst>
          </p:cNvPr>
          <p:cNvSpPr/>
          <p:nvPr/>
        </p:nvSpPr>
        <p:spPr>
          <a:xfrm>
            <a:off x="9162698" y="5013101"/>
            <a:ext cx="1589916" cy="925811"/>
          </a:xfrm>
          <a:prstGeom prst="flowChartProcess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Make different kind of summaries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462E82-9CAD-FD45-BA4C-9F9F45CBD610}"/>
              </a:ext>
            </a:extLst>
          </p:cNvPr>
          <p:cNvCxnSpPr>
            <a:cxnSpLocks/>
            <a:stCxn id="39" idx="3"/>
            <a:endCxn id="106" idx="1"/>
          </p:cNvCxnSpPr>
          <p:nvPr/>
        </p:nvCxnSpPr>
        <p:spPr>
          <a:xfrm>
            <a:off x="10752614" y="5476007"/>
            <a:ext cx="431363" cy="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60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98497C-EAEA-9648-9D7B-2E8DF126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3A4 Order Ranking Logic (new logic)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9B00FA-BA4F-A74F-A799-5580580D4B5E}"/>
              </a:ext>
            </a:extLst>
          </p:cNvPr>
          <p:cNvSpPr txBox="1"/>
          <p:nvPr/>
        </p:nvSpPr>
        <p:spPr>
          <a:xfrm>
            <a:off x="1130160" y="4407610"/>
            <a:ext cx="106808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b="1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>
                <a:solidFill>
                  <a:schemeClr val="accent1">
                    <a:lumMod val="75000"/>
                  </a:schemeClr>
                </a:solidFill>
              </a:rPr>
              <a:t>Ranking logic aligns with the central priority guidelines and DF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Site should actively manage the RISO and pull in orders when possible (especially for L4/BUP/YE/Ageing/Recommit orders)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DFPM can also set exceptional priority through smartsheet which will be captured and considered in the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Orders with MFG_HOLD have lowest priorities among all 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76DFAF-3E80-6440-BBDC-8CE9AED5198B}"/>
              </a:ext>
            </a:extLst>
          </p:cNvPr>
          <p:cNvGrpSpPr/>
          <p:nvPr/>
        </p:nvGrpSpPr>
        <p:grpSpPr>
          <a:xfrm>
            <a:off x="1428108" y="1938088"/>
            <a:ext cx="8574150" cy="1500872"/>
            <a:chOff x="1428108" y="1938088"/>
            <a:chExt cx="8574150" cy="150087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1766F90-CD49-A243-9E43-188393AE1B0E}"/>
                </a:ext>
              </a:extLst>
            </p:cNvPr>
            <p:cNvGrpSpPr/>
            <p:nvPr/>
          </p:nvGrpSpPr>
          <p:grpSpPr>
            <a:xfrm>
              <a:off x="1428108" y="1938088"/>
              <a:ext cx="8574150" cy="1289926"/>
              <a:chOff x="955497" y="1968913"/>
              <a:chExt cx="8574150" cy="1289926"/>
            </a:xfrm>
          </p:grpSpPr>
          <p:sp>
            <p:nvSpPr>
              <p:cNvPr id="4" name="Process 3">
                <a:extLst>
                  <a:ext uri="{FF2B5EF4-FFF2-40B4-BE49-F238E27FC236}">
                    <a16:creationId xmlns:a16="http://schemas.microsoft.com/office/drawing/2014/main" id="{3F05ACD7-DD48-6740-B25F-3B54D9E9C072}"/>
                  </a:ext>
                </a:extLst>
              </p:cNvPr>
              <p:cNvSpPr/>
              <p:nvPr/>
            </p:nvSpPr>
            <p:spPr>
              <a:xfrm>
                <a:off x="1137305" y="1968913"/>
                <a:ext cx="1080944" cy="628355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050" b="1" dirty="0">
                    <a:solidFill>
                      <a:schemeClr val="tx1"/>
                    </a:solidFill>
                  </a:rPr>
                  <a:t>PR1/2/3</a:t>
                </a:r>
              </a:p>
              <a:p>
                <a:pPr algn="ctr"/>
                <a:r>
                  <a:rPr lang="en-CN" sz="1050" b="1" dirty="0">
                    <a:solidFill>
                      <a:schemeClr val="tx1"/>
                    </a:solidFill>
                  </a:rPr>
                  <a:t>(Rank# 1/2/3)</a:t>
                </a:r>
              </a:p>
            </p:txBody>
          </p:sp>
          <p:sp>
            <p:nvSpPr>
              <p:cNvPr id="6" name="Process 5">
                <a:extLst>
                  <a:ext uri="{FF2B5EF4-FFF2-40B4-BE49-F238E27FC236}">
                    <a16:creationId xmlns:a16="http://schemas.microsoft.com/office/drawing/2014/main" id="{B2A9436C-26E6-FF49-87DA-5AB04F671D9D}"/>
                  </a:ext>
                </a:extLst>
              </p:cNvPr>
              <p:cNvSpPr/>
              <p:nvPr/>
            </p:nvSpPr>
            <p:spPr>
              <a:xfrm>
                <a:off x="7022765" y="1978838"/>
                <a:ext cx="978108" cy="614849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</a:rPr>
                  <a:t>Order qty</a:t>
                </a:r>
                <a:endParaRPr lang="en-C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Process 9">
                <a:extLst>
                  <a:ext uri="{FF2B5EF4-FFF2-40B4-BE49-F238E27FC236}">
                    <a16:creationId xmlns:a16="http://schemas.microsoft.com/office/drawing/2014/main" id="{93341E37-5679-154A-BDE3-805DBB290D37}"/>
                  </a:ext>
                </a:extLst>
              </p:cNvPr>
              <p:cNvSpPr/>
              <p:nvPr/>
            </p:nvSpPr>
            <p:spPr>
              <a:xfrm>
                <a:off x="2655599" y="1989112"/>
                <a:ext cx="978108" cy="593347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050" b="1" dirty="0">
                    <a:solidFill>
                      <a:schemeClr val="tx1"/>
                    </a:solidFill>
                  </a:rPr>
                  <a:t>Current FCD</a:t>
                </a:r>
              </a:p>
            </p:txBody>
          </p:sp>
          <p:sp>
            <p:nvSpPr>
              <p:cNvPr id="11" name="Process 10">
                <a:extLst>
                  <a:ext uri="{FF2B5EF4-FFF2-40B4-BE49-F238E27FC236}">
                    <a16:creationId xmlns:a16="http://schemas.microsoft.com/office/drawing/2014/main" id="{37E74267-F278-E743-B7DF-DDC61A85D499}"/>
                  </a:ext>
                </a:extLst>
              </p:cNvPr>
              <p:cNvSpPr/>
              <p:nvPr/>
            </p:nvSpPr>
            <p:spPr>
              <a:xfrm>
                <a:off x="4071153" y="1978838"/>
                <a:ext cx="1080944" cy="614849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05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CN" sz="1050" b="1" dirty="0">
                    <a:solidFill>
                      <a:schemeClr val="tx1"/>
                    </a:solidFill>
                  </a:rPr>
                  <a:t>L4/BUP/YE</a:t>
                </a:r>
              </a:p>
              <a:p>
                <a:pPr algn="ctr"/>
                <a:r>
                  <a:rPr lang="en-CN" sz="1050" b="1" dirty="0">
                    <a:solidFill>
                      <a:schemeClr val="tx1"/>
                    </a:solidFill>
                  </a:rPr>
                  <a:t>(Rank# 4/5/6)</a:t>
                </a:r>
              </a:p>
              <a:p>
                <a:pPr algn="ctr"/>
                <a:endParaRPr lang="en-CN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778D64-412D-D44E-8ED4-9096215E7FCF}"/>
                  </a:ext>
                </a:extLst>
              </p:cNvPr>
              <p:cNvSpPr txBox="1"/>
              <p:nvPr/>
            </p:nvSpPr>
            <p:spPr>
              <a:xfrm>
                <a:off x="8454755" y="2623647"/>
                <a:ext cx="10748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1200" dirty="0"/>
                  <a:t>Prioritize rev order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9927850-9911-F345-99CB-25887B94A6BD}"/>
                  </a:ext>
                </a:extLst>
              </p:cNvPr>
              <p:cNvCxnSpPr>
                <a:cxnSpLocks/>
                <a:stCxn id="4" idx="3"/>
                <a:endCxn id="10" idx="1"/>
              </p:cNvCxnSpPr>
              <p:nvPr/>
            </p:nvCxnSpPr>
            <p:spPr>
              <a:xfrm>
                <a:off x="2218249" y="2283091"/>
                <a:ext cx="437350" cy="26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0BC6FC7-CA6D-8F47-AE7E-5F478D65C51C}"/>
                  </a:ext>
                </a:extLst>
              </p:cNvPr>
              <p:cNvCxnSpPr>
                <a:cxnSpLocks/>
                <a:stCxn id="10" idx="3"/>
                <a:endCxn id="11" idx="1"/>
              </p:cNvCxnSpPr>
              <p:nvPr/>
            </p:nvCxnSpPr>
            <p:spPr>
              <a:xfrm>
                <a:off x="3633707" y="2285786"/>
                <a:ext cx="437446" cy="4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69DB8E9-C6FF-ED45-A5BC-2D5608131054}"/>
                  </a:ext>
                </a:extLst>
              </p:cNvPr>
              <p:cNvCxnSpPr>
                <a:cxnSpLocks/>
                <a:stCxn id="11" idx="3"/>
                <a:endCxn id="33" idx="1"/>
              </p:cNvCxnSpPr>
              <p:nvPr/>
            </p:nvCxnSpPr>
            <p:spPr>
              <a:xfrm flipV="1">
                <a:off x="5152097" y="2285353"/>
                <a:ext cx="399138" cy="9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Process 17">
                <a:extLst>
                  <a:ext uri="{FF2B5EF4-FFF2-40B4-BE49-F238E27FC236}">
                    <a16:creationId xmlns:a16="http://schemas.microsoft.com/office/drawing/2014/main" id="{83B557F9-72D0-B74F-8B6C-CC70362ACA73}"/>
                  </a:ext>
                </a:extLst>
              </p:cNvPr>
              <p:cNvSpPr/>
              <p:nvPr/>
            </p:nvSpPr>
            <p:spPr>
              <a:xfrm>
                <a:off x="8515228" y="1978838"/>
                <a:ext cx="978108" cy="614849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</a:rPr>
                  <a:t>Rev/non-rev</a:t>
                </a:r>
                <a:endParaRPr lang="en-C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737487-4D4B-E649-8643-28C2685770E8}"/>
                  </a:ext>
                </a:extLst>
              </p:cNvPr>
              <p:cNvSpPr txBox="1"/>
              <p:nvPr/>
            </p:nvSpPr>
            <p:spPr>
              <a:xfrm>
                <a:off x="6991943" y="2612508"/>
                <a:ext cx="9781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1200" dirty="0"/>
                  <a:t>Prioritize smaller qty order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36E01A9-C166-744A-8AC4-D78B27B6A9B6}"/>
                  </a:ext>
                </a:extLst>
              </p:cNvPr>
              <p:cNvCxnSpPr>
                <a:cxnSpLocks/>
                <a:stCxn id="6" idx="3"/>
                <a:endCxn id="18" idx="1"/>
              </p:cNvCxnSpPr>
              <p:nvPr/>
            </p:nvCxnSpPr>
            <p:spPr>
              <a:xfrm>
                <a:off x="8000873" y="2286263"/>
                <a:ext cx="51435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Process 32">
                <a:extLst>
                  <a:ext uri="{FF2B5EF4-FFF2-40B4-BE49-F238E27FC236}">
                    <a16:creationId xmlns:a16="http://schemas.microsoft.com/office/drawing/2014/main" id="{07E1F75E-E08A-0146-B157-4DE582F39405}"/>
                  </a:ext>
                </a:extLst>
              </p:cNvPr>
              <p:cNvSpPr/>
              <p:nvPr/>
            </p:nvSpPr>
            <p:spPr>
              <a:xfrm>
                <a:off x="5551235" y="1977928"/>
                <a:ext cx="1080943" cy="614849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</a:rPr>
                  <a:t>OSSD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8CF47ED-531D-4F4E-B18A-80CD3EC9D487}"/>
                  </a:ext>
                </a:extLst>
              </p:cNvPr>
              <p:cNvCxnSpPr>
                <a:cxnSpLocks/>
                <a:stCxn id="33" idx="3"/>
                <a:endCxn id="6" idx="1"/>
              </p:cNvCxnSpPr>
              <p:nvPr/>
            </p:nvCxnSpPr>
            <p:spPr>
              <a:xfrm>
                <a:off x="6632178" y="2285353"/>
                <a:ext cx="390587" cy="9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A03DA4-9A1C-1846-AC11-D81665D8DD64}"/>
                  </a:ext>
                </a:extLst>
              </p:cNvPr>
              <p:cNvSpPr txBox="1"/>
              <p:nvPr/>
            </p:nvSpPr>
            <p:spPr>
              <a:xfrm>
                <a:off x="955497" y="2617778"/>
                <a:ext cx="8928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1200" dirty="0"/>
                  <a:t>Including DPAS</a:t>
                </a:r>
              </a:p>
            </p:txBody>
          </p:sp>
        </p:grpSp>
        <p:sp>
          <p:nvSpPr>
            <p:cNvPr id="32" name="Process 31">
              <a:extLst>
                <a:ext uri="{FF2B5EF4-FFF2-40B4-BE49-F238E27FC236}">
                  <a16:creationId xmlns:a16="http://schemas.microsoft.com/office/drawing/2014/main" id="{8F88918F-EBE9-5E43-AB53-643959BDDB7D}"/>
                </a:ext>
              </a:extLst>
            </p:cNvPr>
            <p:cNvSpPr/>
            <p:nvPr/>
          </p:nvSpPr>
          <p:spPr>
            <a:xfrm>
              <a:off x="2805695" y="2845613"/>
              <a:ext cx="1738069" cy="593347"/>
            </a:xfrm>
            <a:prstGeom prst="flowChartProcess">
              <a:avLst/>
            </a:prstGeom>
            <a:noFill/>
            <a:ln>
              <a:solidFill>
                <a:srgbClr val="FFC08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000" dirty="0">
                  <a:solidFill>
                    <a:schemeClr val="tx1">
                      <a:lumMod val="50000"/>
                    </a:schemeClr>
                  </a:solidFill>
                </a:rPr>
                <a:t>Manual </a:t>
              </a:r>
              <a:r>
                <a:rPr lang="en-CN" sz="1000" b="1" dirty="0">
                  <a:solidFill>
                    <a:schemeClr val="tx1">
                      <a:lumMod val="50000"/>
                    </a:schemeClr>
                  </a:solidFill>
                </a:rPr>
                <a:t>exceptional</a:t>
              </a:r>
              <a:r>
                <a:rPr lang="en-CN" sz="1000" dirty="0">
                  <a:solidFill>
                    <a:schemeClr val="tx1">
                      <a:lumMod val="50000"/>
                    </a:schemeClr>
                  </a:solidFill>
                </a:rPr>
                <a:t> priority injection by DFPM</a:t>
              </a: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2F576C72-445E-E642-8F8D-11853E838462}"/>
                </a:ext>
              </a:extLst>
            </p:cNvPr>
            <p:cNvCxnSpPr>
              <a:cxnSpLocks/>
              <a:stCxn id="32" idx="1"/>
              <a:endCxn id="4" idx="2"/>
            </p:cNvCxnSpPr>
            <p:nvPr/>
          </p:nvCxnSpPr>
          <p:spPr>
            <a:xfrm rot="10800000">
              <a:off x="2150389" y="2566443"/>
              <a:ext cx="655307" cy="575844"/>
            </a:xfrm>
            <a:prstGeom prst="bentConnector2">
              <a:avLst/>
            </a:prstGeom>
            <a:ln>
              <a:solidFill>
                <a:srgbClr val="FFC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2FCD18FE-A314-D042-8E8A-2D71A10FB418}"/>
                </a:ext>
              </a:extLst>
            </p:cNvPr>
            <p:cNvCxnSpPr>
              <a:cxnSpLocks/>
              <a:stCxn id="32" idx="3"/>
              <a:endCxn id="11" idx="2"/>
            </p:cNvCxnSpPr>
            <p:nvPr/>
          </p:nvCxnSpPr>
          <p:spPr>
            <a:xfrm flipV="1">
              <a:off x="4543764" y="2562862"/>
              <a:ext cx="540472" cy="579425"/>
            </a:xfrm>
            <a:prstGeom prst="bentConnector2">
              <a:avLst/>
            </a:prstGeom>
            <a:ln>
              <a:solidFill>
                <a:srgbClr val="FFC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514038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3A4 Backlog Processings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A6BCF-958E-874A-A169-714198AECBEF}"/>
              </a:ext>
            </a:extLst>
          </p:cNvPr>
          <p:cNvSpPr txBox="1"/>
          <p:nvPr/>
        </p:nvSpPr>
        <p:spPr>
          <a:xfrm>
            <a:off x="1057275" y="1685925"/>
            <a:ext cx="98519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Cancelled orders and packed orders kept in report, but removed in creating the blg dict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Redefine the addressable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Calculate earliest_packable_date based on target SSD, LT target FCD and other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Create ‘min_date’ col based on OSSD and LT target FCD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Calculate SS revenue and SS unstaged, as well revenue by unit; rank SS by unit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Process the top categories and rank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Rank the overall SS based on sorting criterias (process: Rank 3A4 SS/PO)</a:t>
            </a:r>
          </a:p>
        </p:txBody>
      </p:sp>
    </p:spTree>
    <p:extLst>
      <p:ext uri="{BB962C8B-B14F-4D97-AF65-F5344CB8AC3E}">
        <p14:creationId xmlns:p14="http://schemas.microsoft.com/office/powerpoint/2010/main" val="2691200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Calculate PO CTB/ SS CTB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A6BCF-958E-874A-A169-714198AECBEF}"/>
              </a:ext>
            </a:extLst>
          </p:cNvPr>
          <p:cNvSpPr txBox="1"/>
          <p:nvPr/>
        </p:nvSpPr>
        <p:spPr>
          <a:xfrm>
            <a:off x="1057276" y="1685925"/>
            <a:ext cx="101257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PO CTB: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FLT using 3 currently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PO without supply coverage or with MFG_HOLD having CTB 180days out (ITF)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CTB in the past will</a:t>
            </a:r>
            <a:r>
              <a:rPr lang="en-CN" dirty="0"/>
              <a:t> be changed to 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CTB also consider </a:t>
            </a:r>
            <a:r>
              <a:rPr lang="en-US" dirty="0" err="1"/>
              <a:t>earliest_packable_date</a:t>
            </a:r>
            <a:r>
              <a:rPr lang="en-US" dirty="0"/>
              <a:t> which followed below logic: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Unscheduled orders packable date 14</a:t>
            </a:r>
            <a:r>
              <a:rPr lang="en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en-CN" dirty="0"/>
              <a:t>ays out from today;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MFG_HOLD orders packable date 180</a:t>
            </a:r>
            <a:r>
              <a:rPr lang="en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en-CN" dirty="0"/>
              <a:t>ays out from today;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Exception orders packable date 14</a:t>
            </a:r>
            <a:r>
              <a:rPr lang="en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en-CN" dirty="0"/>
              <a:t>ays out from today;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 order : addressable logic for based on target SSD and LT target FCD</a:t>
            </a:r>
            <a:endParaRPr lang="en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Note: scheduled but missing target dates does not generate this date (</a:t>
            </a:r>
            <a:r>
              <a:rPr lang="en-CN" dirty="0">
                <a:solidFill>
                  <a:srgbClr val="FF0000"/>
                </a:solidFill>
              </a:rPr>
              <a:t>may need a fix</a:t>
            </a:r>
            <a:r>
              <a:rPr lang="en-CN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0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88" y="455085"/>
            <a:ext cx="11127317" cy="975783"/>
          </a:xfrm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CN"/>
              <a:t>Summaries</a:t>
            </a:r>
          </a:p>
        </p:txBody>
      </p:sp>
      <p:graphicFrame>
        <p:nvGraphicFramePr>
          <p:cNvPr id="15" name="TextBox 5">
            <a:extLst>
              <a:ext uri="{FF2B5EF4-FFF2-40B4-BE49-F238E27FC236}">
                <a16:creationId xmlns:a16="http://schemas.microsoft.com/office/drawing/2014/main" id="{3F95BFA9-A2FB-4E0B-A5DE-1830BD346F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042340"/>
              </p:ext>
            </p:extLst>
          </p:nvPr>
        </p:nvGraphicFramePr>
        <p:xfrm>
          <a:off x="583688" y="1797051"/>
          <a:ext cx="11127317" cy="4246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155818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lue theme 2016 16x9">
  <a:themeElements>
    <a:clrScheme name="Blue Theme 2016 Colors">
      <a:dk1>
        <a:srgbClr val="58585B"/>
      </a:dk1>
      <a:lt1>
        <a:srgbClr val="FFFFFF"/>
      </a:lt1>
      <a:dk2>
        <a:srgbClr val="58585B"/>
      </a:dk2>
      <a:lt2>
        <a:srgbClr val="049FD9"/>
      </a:lt2>
      <a:accent1>
        <a:srgbClr val="004BAF"/>
      </a:accent1>
      <a:accent2>
        <a:srgbClr val="64BBE3"/>
      </a:accent2>
      <a:accent3>
        <a:srgbClr val="E8EBF1"/>
      </a:accent3>
      <a:accent4>
        <a:srgbClr val="9E9EA2"/>
      </a:accent4>
      <a:accent5>
        <a:srgbClr val="049FD9"/>
      </a:accent5>
      <a:accent6>
        <a:srgbClr val="ABC233"/>
      </a:accent6>
      <a:hlink>
        <a:srgbClr val="049FD9"/>
      </a:hlink>
      <a:folHlink>
        <a:srgbClr val="004BA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DC503DE1-91F3-4E06-9D47-79C2309E909B}" vid="{C266BCD2-BF24-49DE-B4C0-2E591CE229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7857</TotalTime>
  <Words>781</Words>
  <Application>Microsoft Macintosh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Ciscolight</vt:lpstr>
      <vt:lpstr>Arial</vt:lpstr>
      <vt:lpstr>Calibri</vt:lpstr>
      <vt:lpstr>CiscoSans</vt:lpstr>
      <vt:lpstr>CiscoSans ExtraLight</vt:lpstr>
      <vt:lpstr>Blue theme 2016 16x9</vt:lpstr>
      <vt:lpstr>Experimentation using full supply For CTB and material gating</vt:lpstr>
      <vt:lpstr>Purpose</vt:lpstr>
      <vt:lpstr>High Level Process and Outcome</vt:lpstr>
      <vt:lpstr>Example – Allocate supply/capacity and generate PO/SS CTB</vt:lpstr>
      <vt:lpstr>(continued) Aggregated Summaries (examples) </vt:lpstr>
      <vt:lpstr>Main WorkFlow</vt:lpstr>
      <vt:lpstr>3A4 Order Ranking Logic (new logic)</vt:lpstr>
      <vt:lpstr>3A4 Backlog Processings</vt:lpstr>
      <vt:lpstr>Calculate PO CTB/ SS CTB</vt:lpstr>
      <vt:lpstr>Summaries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Experimentation using full PCBA SCR  Supply/capacity – DF CTB – Material impact</dc:title>
  <dc:creator>kwziyi@gmail.com</dc:creator>
  <cp:lastModifiedBy>kwziyi@gmail.com</cp:lastModifiedBy>
  <cp:revision>31</cp:revision>
  <dcterms:created xsi:type="dcterms:W3CDTF">2020-06-19T01:19:26Z</dcterms:created>
  <dcterms:modified xsi:type="dcterms:W3CDTF">2021-04-20T06:18:31Z</dcterms:modified>
</cp:coreProperties>
</file>